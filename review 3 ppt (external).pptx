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71" r:id="rId3"/>
    <p:sldId id="285" r:id="rId4"/>
    <p:sldId id="259" r:id="rId5"/>
    <p:sldId id="286" r:id="rId6"/>
    <p:sldId id="263" r:id="rId7"/>
    <p:sldId id="287" r:id="rId8"/>
    <p:sldId id="288" r:id="rId9"/>
    <p:sldId id="289" r:id="rId10"/>
    <p:sldId id="290" r:id="rId11"/>
    <p:sldId id="282" r:id="rId12"/>
    <p:sldId id="291" r:id="rId13"/>
    <p:sldId id="267" r:id="rId14"/>
    <p:sldId id="268" r:id="rId15"/>
    <p:sldId id="276" r:id="rId16"/>
    <p:sldId id="293" r:id="rId17"/>
    <p:sldId id="294" r:id="rId18"/>
    <p:sldId id="296" r:id="rId19"/>
    <p:sldId id="29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oever" initials="w" lastIdx="1" clrIdx="0">
    <p:extLst>
      <p:ext uri="{19B8F6BF-5375-455C-9EA6-DF929625EA0E}">
        <p15:presenceInfo xmlns:p15="http://schemas.microsoft.com/office/powerpoint/2012/main" userId="whoev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4660"/>
  </p:normalViewPr>
  <p:slideViewPr>
    <p:cSldViewPr snapToGrid="0">
      <p:cViewPr>
        <p:scale>
          <a:sx n="82" d="100"/>
          <a:sy n="82" d="100"/>
        </p:scale>
        <p:origin x="384" y="72"/>
      </p:cViewPr>
      <p:guideLst/>
    </p:cSldViewPr>
  </p:slideViewPr>
  <p:notesTextViewPr>
    <p:cViewPr>
      <p:scale>
        <a:sx n="1" d="1"/>
        <a:sy n="1" d="1"/>
      </p:scale>
      <p:origin x="0" y="0"/>
    </p:cViewPr>
  </p:notesTextViewPr>
  <p:notesViewPr>
    <p:cSldViewPr snapToGrid="0">
      <p:cViewPr varScale="1">
        <p:scale>
          <a:sx n="57" d="100"/>
          <a:sy n="57" d="100"/>
        </p:scale>
        <p:origin x="256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06490A-2B5A-4A78-88B4-B9069912938D}" type="datetimeFigureOut">
              <a:rPr lang="en-IN" smtClean="0"/>
              <a:t>07-03-2026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C21B1-72C9-48EC-AE48-8F81FCB3CC8F}" type="slidenum">
              <a:rPr lang="en-IN" smtClean="0"/>
              <a:t>‹#›</a:t>
            </a:fld>
            <a:endParaRPr lang="en-IN"/>
          </a:p>
        </p:txBody>
      </p:sp>
    </p:spTree>
    <p:extLst>
      <p:ext uri="{BB962C8B-B14F-4D97-AF65-F5344CB8AC3E}">
        <p14:creationId xmlns:p14="http://schemas.microsoft.com/office/powerpoint/2010/main" val="1330992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2DC21B1-72C9-48EC-AE48-8F81FCB3CC8F}" type="slidenum">
              <a:rPr lang="en-IN" smtClean="0"/>
              <a:t>13</a:t>
            </a:fld>
            <a:endParaRPr lang="en-IN"/>
          </a:p>
        </p:txBody>
      </p:sp>
    </p:spTree>
    <p:extLst>
      <p:ext uri="{BB962C8B-B14F-4D97-AF65-F5344CB8AC3E}">
        <p14:creationId xmlns:p14="http://schemas.microsoft.com/office/powerpoint/2010/main" val="269332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3/7/2026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3/7/2026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3/7/2026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3/7/2026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318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63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ijarsct.co.in/Paper29720.pd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ijstmr.com/wp-content/uploads/2023/04/IJSTMR_V8I04_1267.pdf" TargetMode="External"/><Relationship Id="rId4" Type="http://schemas.openxmlformats.org/officeDocument/2006/relationships/hyperlink" Target="https://www.researchgate.net/publication/371383163_Salary_Prediction_System_using_Machine_Learning"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ijsrem.com/download/salary-prediction-system-using-machine-learning/" TargetMode="External"/><Relationship Id="rId2" Type="http://schemas.openxmlformats.org/officeDocument/2006/relationships/hyperlink" Target="https://www.academia.edu/145123832/Machine_Learning_Approaches_to_Salary_Prediction_in_Human_Resource_Payroll_Systems" TargetMode="External"/><Relationship Id="rId1" Type="http://schemas.openxmlformats.org/officeDocument/2006/relationships/slideLayout" Target="../slideLayouts/slideLayout1.xml"/><Relationship Id="rId4" Type="http://schemas.openxmlformats.org/officeDocument/2006/relationships/hyperlink" Target="https://www.scribd.com/document/969330650/Employee-Salary-Prediction"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3506" y="857643"/>
            <a:ext cx="8991600" cy="1645920"/>
          </a:xfrm>
        </p:spPr>
        <p:txBody>
          <a:bodyPr/>
          <a:lstStyle/>
          <a:p>
            <a:r>
              <a:rPr lang="en-US" dirty="0"/>
              <a:t>Employee salary prediction system</a:t>
            </a:r>
            <a:endParaRPr lang="en-IN" dirty="0"/>
          </a:p>
        </p:txBody>
      </p:sp>
      <p:sp>
        <p:nvSpPr>
          <p:cNvPr id="3" name="Subtitle 2"/>
          <p:cNvSpPr>
            <a:spLocks noGrp="1"/>
          </p:cNvSpPr>
          <p:nvPr>
            <p:ph type="subTitle" idx="1"/>
          </p:nvPr>
        </p:nvSpPr>
        <p:spPr>
          <a:xfrm>
            <a:off x="3284376" y="2977295"/>
            <a:ext cx="5195394" cy="2634634"/>
          </a:xfrm>
        </p:spPr>
        <p:txBody>
          <a:bodyPr>
            <a:normAutofit/>
          </a:bodyPr>
          <a:lstStyle/>
          <a:p>
            <a:r>
              <a:rPr lang="en-US" b="1" u="sng" dirty="0">
                <a:solidFill>
                  <a:schemeClr val="tx1">
                    <a:lumMod val="95000"/>
                  </a:schemeClr>
                </a:solidFill>
              </a:rPr>
              <a:t>MENTOR:</a:t>
            </a:r>
            <a:r>
              <a:rPr lang="en-US" dirty="0">
                <a:solidFill>
                  <a:schemeClr val="tx1">
                    <a:lumMod val="95000"/>
                  </a:schemeClr>
                </a:solidFill>
              </a:rPr>
              <a:t> Dr N. Shirisha</a:t>
            </a:r>
            <a:r>
              <a:rPr lang="en-IN" altLang="en-US" dirty="0">
                <a:solidFill>
                  <a:schemeClr val="tx1">
                    <a:lumMod val="95000"/>
                  </a:schemeClr>
                </a:solidFill>
              </a:rPr>
              <a:t>,  </a:t>
            </a:r>
            <a:r>
              <a:rPr lang="en-IN" altLang="en-US" dirty="0" err="1">
                <a:solidFill>
                  <a:schemeClr val="tx1">
                    <a:lumMod val="95000"/>
                  </a:schemeClr>
                </a:solidFill>
              </a:rPr>
              <a:t>Assoc.Prof</a:t>
            </a:r>
            <a:r>
              <a:rPr lang="en-IN" altLang="en-US" dirty="0">
                <a:solidFill>
                  <a:schemeClr val="tx1">
                    <a:lumMod val="95000"/>
                  </a:schemeClr>
                </a:solidFill>
              </a:rPr>
              <a:t>.</a:t>
            </a:r>
            <a:endParaRPr lang="en-US" dirty="0">
              <a:solidFill>
                <a:schemeClr val="tx1">
                  <a:lumMod val="95000"/>
                </a:schemeClr>
              </a:solidFill>
            </a:endParaRPr>
          </a:p>
          <a:p>
            <a:r>
              <a:rPr lang="en-US" b="1" u="sng" dirty="0">
                <a:solidFill>
                  <a:schemeClr val="tx1">
                    <a:lumMod val="95000"/>
                  </a:schemeClr>
                </a:solidFill>
              </a:rPr>
              <a:t>BATCH NO:</a:t>
            </a:r>
            <a:r>
              <a:rPr lang="en-US" b="1" dirty="0">
                <a:solidFill>
                  <a:schemeClr val="tx1">
                    <a:lumMod val="95000"/>
                  </a:schemeClr>
                </a:solidFill>
              </a:rPr>
              <a:t> </a:t>
            </a:r>
            <a:endParaRPr lang="en-US" dirty="0">
              <a:solidFill>
                <a:schemeClr val="tx1">
                  <a:lumMod val="95000"/>
                </a:schemeClr>
              </a:solidFill>
            </a:endParaRPr>
          </a:p>
          <a:p>
            <a:r>
              <a:rPr lang="en-US" b="1" u="sng" dirty="0">
                <a:solidFill>
                  <a:schemeClr val="tx1">
                    <a:lumMod val="95000"/>
                  </a:schemeClr>
                </a:solidFill>
              </a:rPr>
              <a:t>TEAM MEMBERS:</a:t>
            </a:r>
          </a:p>
          <a:p>
            <a:r>
              <a:rPr lang="en-IN" dirty="0"/>
              <a:t>2320030417- Sai </a:t>
            </a:r>
            <a:r>
              <a:rPr lang="en-IN" dirty="0" err="1"/>
              <a:t>Reethika</a:t>
            </a:r>
            <a:endParaRPr lang="en-IN" dirty="0"/>
          </a:p>
          <a:p>
            <a:r>
              <a:rPr lang="en-IN" dirty="0"/>
              <a:t>2320030027 – Saraf Swathi</a:t>
            </a:r>
          </a:p>
          <a:p>
            <a:r>
              <a:rPr lang="en-IN" dirty="0"/>
              <a:t>2320030419 – Jakku Nikitha</a:t>
            </a:r>
          </a:p>
        </p:txBody>
      </p:sp>
      <p:sp>
        <p:nvSpPr>
          <p:cNvPr id="4" name="Text Box 3"/>
          <p:cNvSpPr txBox="1"/>
          <p:nvPr/>
        </p:nvSpPr>
        <p:spPr>
          <a:xfrm>
            <a:off x="7329805" y="3035300"/>
            <a:ext cx="309880" cy="368300"/>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3948" y="1093617"/>
            <a:ext cx="9724103" cy="912163"/>
          </a:xfrm>
        </p:spPr>
        <p:txBody>
          <a:bodyPr>
            <a:normAutofit/>
          </a:bodyPr>
          <a:lstStyle/>
          <a:p>
            <a:r>
              <a:rPr lang="en-US" dirty="0"/>
              <a:t>Table of contents</a:t>
            </a:r>
            <a:endParaRPr lang="en-IN" dirty="0"/>
          </a:p>
        </p:txBody>
      </p:sp>
      <p:sp>
        <p:nvSpPr>
          <p:cNvPr id="3" name="Subtitle 2"/>
          <p:cNvSpPr>
            <a:spLocks noGrp="1"/>
          </p:cNvSpPr>
          <p:nvPr>
            <p:ph type="subTitle" idx="1"/>
          </p:nvPr>
        </p:nvSpPr>
        <p:spPr>
          <a:xfrm>
            <a:off x="1233948" y="2269067"/>
            <a:ext cx="8021813" cy="4233333"/>
          </a:xfrm>
        </p:spPr>
        <p:txBody>
          <a:bodyPr>
            <a:normAutofit fontScale="92500" lnSpcReduction="20000"/>
          </a:bodyPr>
          <a:lstStyle/>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ABSTRACT</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INTRODUCTION</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EXISTING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PROPOSED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OBJECTIVES</a:t>
            </a:r>
            <a:endParaRPr lang="en-US"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LITERATURE SURVEY</a:t>
            </a: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SOFTWARE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HARDWARE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NON – 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SYSTEM ARCHITECTURE</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UML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ACTIVITY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MODULE DESIGN</a:t>
            </a: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2200" b="1"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l">
              <a:buClrTx/>
              <a:buFont typeface="Wingdings" panose="05000000000000000000" pitchFamily="2" charset="2"/>
              <a:buChar char="§"/>
            </a:pPr>
            <a:endParaRPr lang="en-IN" dirty="0">
              <a:solidFill>
                <a:schemeClr val="accent6">
                  <a:lumMod val="50000"/>
                </a:schemeClr>
              </a:solidFill>
            </a:endParaRPr>
          </a:p>
          <a:p>
            <a:pPr marL="342900" indent="-342900" algn="l">
              <a:buClrTx/>
              <a:buFont typeface="Wingdings" panose="05000000000000000000" pitchFamily="2" charset="2"/>
              <a:buChar char="§"/>
            </a:pPr>
            <a:endParaRPr lang="en-IN" dirty="0">
              <a:solidFill>
                <a:schemeClr val="accent6">
                  <a:lumMod val="50000"/>
                </a:schemeClr>
              </a:solidFill>
            </a:endParaRPr>
          </a:p>
        </p:txBody>
      </p:sp>
    </p:spTree>
    <p:extLst>
      <p:ext uri="{BB962C8B-B14F-4D97-AF65-F5344CB8AC3E}">
        <p14:creationId xmlns:p14="http://schemas.microsoft.com/office/powerpoint/2010/main" val="421461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18D3-8A6B-71F7-8E6D-6E17F8CBA0C1}"/>
              </a:ext>
            </a:extLst>
          </p:cNvPr>
          <p:cNvSpPr>
            <a:spLocks noGrp="1"/>
          </p:cNvSpPr>
          <p:nvPr>
            <p:ph type="ctrTitle"/>
          </p:nvPr>
        </p:nvSpPr>
        <p:spPr>
          <a:xfrm>
            <a:off x="1600200" y="442602"/>
            <a:ext cx="8991600" cy="1645920"/>
          </a:xfrm>
        </p:spPr>
        <p:txBody>
          <a:bodyPr>
            <a:normAutofit/>
          </a:bodyPr>
          <a:lstStyle/>
          <a:p>
            <a:r>
              <a:rPr lang="en-IN" sz="3200" dirty="0"/>
              <a:t>Review – 2 comments addressed</a:t>
            </a:r>
          </a:p>
        </p:txBody>
      </p:sp>
      <p:sp>
        <p:nvSpPr>
          <p:cNvPr id="3" name="Subtitle 2">
            <a:extLst>
              <a:ext uri="{FF2B5EF4-FFF2-40B4-BE49-F238E27FC236}">
                <a16:creationId xmlns:a16="http://schemas.microsoft.com/office/drawing/2014/main" id="{38175D99-3C6A-252F-1670-A6E945C244BF}"/>
              </a:ext>
            </a:extLst>
          </p:cNvPr>
          <p:cNvSpPr>
            <a:spLocks noGrp="1"/>
          </p:cNvSpPr>
          <p:nvPr>
            <p:ph type="subTitle" idx="1"/>
          </p:nvPr>
        </p:nvSpPr>
        <p:spPr>
          <a:xfrm>
            <a:off x="1500996" y="3278038"/>
            <a:ext cx="9178506" cy="2314400"/>
          </a:xfrm>
        </p:spPr>
        <p:txBody>
          <a:bodyPr>
            <a:normAutofit/>
          </a:bodyPr>
          <a:lstStyle/>
          <a:p>
            <a:r>
              <a:rPr lang="en-IN" sz="2800" dirty="0"/>
              <a:t>1.Modules of the project need to analyse</a:t>
            </a:r>
          </a:p>
          <a:p>
            <a:r>
              <a:rPr lang="en-IN" sz="2800" dirty="0"/>
              <a:t>2.Tools /Requirements gather</a:t>
            </a:r>
          </a:p>
        </p:txBody>
      </p:sp>
    </p:spTree>
    <p:extLst>
      <p:ext uri="{BB962C8B-B14F-4D97-AF65-F5344CB8AC3E}">
        <p14:creationId xmlns:p14="http://schemas.microsoft.com/office/powerpoint/2010/main" val="142624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5" name="Title 1"/>
          <p:cNvSpPr>
            <a:spLocks noGrp="1"/>
          </p:cNvSpPr>
          <p:nvPr>
            <p:ph idx="1"/>
          </p:nvPr>
        </p:nvSpPr>
        <p:spPr>
          <a:xfrm>
            <a:off x="6322142" y="218767"/>
            <a:ext cx="5692877" cy="6420465"/>
          </a:xfrm>
          <a:noFill/>
          <a:ln w="38100">
            <a:solidFill>
              <a:srgbClr val="404040">
                <a:alpha val="57000"/>
              </a:srgbClr>
            </a:solidFill>
          </a:ln>
        </p:spPr>
        <p:txBody>
          <a:bodyPr>
            <a:normAutofit/>
          </a:bodyPr>
          <a:lstStyle/>
          <a:p>
            <a:r>
              <a:rPr lang="en-US" sz="1800" dirty="0"/>
              <a:t>The Employee Salary Prediction System is an Artificial Intelligence based application designed to estimate employee salaries using Machine Learning techniques. The system analyzes historical HR data including attributes such as age, education level, job role, gender, and years of experience to predict salary ranges.</a:t>
            </a:r>
          </a:p>
          <a:p>
            <a:r>
              <a:rPr lang="en-US" sz="1800" dirty="0"/>
              <a:t>A Linear Regression model is trained using a structured dataset and deployed through a </a:t>
            </a:r>
            <a:r>
              <a:rPr lang="en-US" sz="1800" dirty="0" err="1"/>
              <a:t>FastAPI</a:t>
            </a:r>
            <a:r>
              <a:rPr lang="en-US" sz="1800" dirty="0"/>
              <a:t> backend to provide real-time salary predictions. The system also includes an interactive web interface that allows users to input employee details and view predicted salaries along with analytics visualizations.</a:t>
            </a:r>
          </a:p>
          <a:p>
            <a:r>
              <a:rPr lang="en-US" sz="1800" dirty="0"/>
              <a:t>This approach helps organizations make fair compensation decisions and supports job seekers in understanding expected salary ranges based on their qualifications.</a:t>
            </a:r>
          </a:p>
          <a:p>
            <a:pPr marL="0" indent="0">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096-BD79-8031-FD5E-BBB09CEAB30D}"/>
              </a:ext>
            </a:extLst>
          </p:cNvPr>
          <p:cNvSpPr>
            <a:spLocks noGrp="1"/>
          </p:cNvSpPr>
          <p:nvPr>
            <p:ph type="ctrTitle"/>
          </p:nvPr>
        </p:nvSpPr>
        <p:spPr>
          <a:xfrm>
            <a:off x="1384539" y="442602"/>
            <a:ext cx="8991600" cy="1403451"/>
          </a:xfrm>
        </p:spPr>
        <p:txBody>
          <a:bodyPr/>
          <a:lstStyle/>
          <a:p>
            <a:r>
              <a:rPr lang="en-IN" dirty="0"/>
              <a:t>Introduction</a:t>
            </a:r>
          </a:p>
        </p:txBody>
      </p:sp>
      <p:sp>
        <p:nvSpPr>
          <p:cNvPr id="3" name="Subtitle 2">
            <a:extLst>
              <a:ext uri="{FF2B5EF4-FFF2-40B4-BE49-F238E27FC236}">
                <a16:creationId xmlns:a16="http://schemas.microsoft.com/office/drawing/2014/main" id="{B7BCB5CD-F662-7491-D24A-0DACB0CFC041}"/>
              </a:ext>
            </a:extLst>
          </p:cNvPr>
          <p:cNvSpPr>
            <a:spLocks noGrp="1"/>
          </p:cNvSpPr>
          <p:nvPr>
            <p:ph type="subTitle" idx="1"/>
          </p:nvPr>
        </p:nvSpPr>
        <p:spPr>
          <a:xfrm>
            <a:off x="1222187" y="2001092"/>
            <a:ext cx="9056297" cy="3726931"/>
          </a:xfrm>
        </p:spPr>
        <p:txBody>
          <a:bodyPr>
            <a:noAutofit/>
          </a:bodyPr>
          <a:lstStyle/>
          <a:p>
            <a:pPr algn="l"/>
            <a:r>
              <a:rPr lang="en-US" sz="1600" dirty="0">
                <a:solidFill>
                  <a:schemeClr val="bg1"/>
                </a:solidFill>
                <a:latin typeface="Times New Roman" panose="02020603050405020304" pitchFamily="18" charset="0"/>
                <a:cs typeface="Times New Roman" panose="02020603050405020304" pitchFamily="18" charset="0"/>
              </a:rPr>
              <a:t>Employee Salary Prediction is an Artificial Intelligence and Machine Learning based system that predicts employee salaries based on various factors such as experience, education level, job role, age, and other professional attributes. Traditional salary estimation methods are often manual and may lead to inconsistent or biased decisions. Machine learning techniques help analyze historical employee data and identify patterns that influence salary levels.</a:t>
            </a:r>
          </a:p>
          <a:p>
            <a:pPr algn="l"/>
            <a:r>
              <a:rPr lang="en-US" sz="1600" dirty="0">
                <a:solidFill>
                  <a:schemeClr val="bg1"/>
                </a:solidFill>
                <a:latin typeface="Times New Roman" panose="02020603050405020304" pitchFamily="18" charset="0"/>
                <a:cs typeface="Times New Roman" panose="02020603050405020304" pitchFamily="18" charset="0"/>
              </a:rPr>
              <a:t>Machine Learning models learn from past data and use that knowledge to estimate salaries for new employee inputs. The system processes the dataset, trains predictive models, and provides salary predictions through an interactive application interface.</a:t>
            </a:r>
          </a:p>
          <a:p>
            <a:pPr algn="l"/>
            <a:r>
              <a:rPr lang="en-US" sz="1600" dirty="0">
                <a:solidFill>
                  <a:schemeClr val="bg1"/>
                </a:solidFill>
                <a:latin typeface="Times New Roman" panose="02020603050405020304" pitchFamily="18" charset="0"/>
                <a:cs typeface="Times New Roman" panose="02020603050405020304" pitchFamily="18" charset="0"/>
              </a:rPr>
              <a:t>The Employee Salary Prediction System is used for:</a:t>
            </a:r>
          </a:p>
          <a:p>
            <a:pPr algn="l"/>
            <a:r>
              <a:rPr lang="en-US" sz="1600" dirty="0">
                <a:solidFill>
                  <a:schemeClr val="bg1"/>
                </a:solidFill>
                <a:latin typeface="Times New Roman" panose="02020603050405020304" pitchFamily="18" charset="0"/>
                <a:cs typeface="Times New Roman" panose="02020603050405020304" pitchFamily="18" charset="0"/>
              </a:rPr>
              <a:t>Predicting employee salary based on experience and education</a:t>
            </a:r>
          </a:p>
          <a:p>
            <a:pPr algn="l"/>
            <a:r>
              <a:rPr lang="en-US" sz="1600" dirty="0">
                <a:solidFill>
                  <a:schemeClr val="bg1"/>
                </a:solidFill>
                <a:latin typeface="Times New Roman" panose="02020603050405020304" pitchFamily="18" charset="0"/>
                <a:cs typeface="Times New Roman" panose="02020603050405020304" pitchFamily="18" charset="0"/>
              </a:rPr>
              <a:t>Analyzing salary patterns using historical employee data</a:t>
            </a:r>
          </a:p>
          <a:p>
            <a:pPr algn="l"/>
            <a:r>
              <a:rPr lang="en-US" sz="1600" dirty="0">
                <a:solidFill>
                  <a:schemeClr val="bg1"/>
                </a:solidFill>
                <a:latin typeface="Times New Roman" panose="02020603050405020304" pitchFamily="18" charset="0"/>
                <a:cs typeface="Times New Roman" panose="02020603050405020304" pitchFamily="18" charset="0"/>
              </a:rPr>
              <a:t>Providing data-driven salary estimation</a:t>
            </a:r>
          </a:p>
          <a:p>
            <a:pPr algn="l"/>
            <a:r>
              <a:rPr lang="en-US" sz="1600" dirty="0">
                <a:solidFill>
                  <a:schemeClr val="bg1"/>
                </a:solidFill>
                <a:latin typeface="Times New Roman" panose="02020603050405020304" pitchFamily="18" charset="0"/>
                <a:cs typeface="Times New Roman" panose="02020603050405020304" pitchFamily="18" charset="0"/>
              </a:rPr>
              <a:t>Reducing bias in compensation decisions</a:t>
            </a:r>
          </a:p>
          <a:p>
            <a:pPr algn="l"/>
            <a:r>
              <a:rPr lang="en-US" sz="1600" dirty="0">
                <a:solidFill>
                  <a:schemeClr val="bg1"/>
                </a:solidFill>
                <a:latin typeface="Times New Roman" panose="02020603050405020304" pitchFamily="18" charset="0"/>
                <a:cs typeface="Times New Roman" panose="02020603050405020304" pitchFamily="18" charset="0"/>
              </a:rPr>
              <a:t>Supporting HR teams in recruitment planning</a:t>
            </a:r>
          </a:p>
          <a:p>
            <a:pPr algn="l"/>
            <a:r>
              <a:rPr lang="en-US" sz="1600" dirty="0">
                <a:solidFill>
                  <a:schemeClr val="bg1"/>
                </a:solidFill>
                <a:latin typeface="Times New Roman" panose="02020603050405020304" pitchFamily="18" charset="0"/>
                <a:cs typeface="Times New Roman" panose="02020603050405020304" pitchFamily="18" charset="0"/>
              </a:rPr>
              <a:t>Helping job seekers understand expected salary ranges</a:t>
            </a:r>
          </a:p>
          <a:p>
            <a:pPr algn="l"/>
            <a:r>
              <a:rPr lang="en-US" sz="1600" dirty="0">
                <a:solidFill>
                  <a:schemeClr val="bg1"/>
                </a:solidFill>
                <a:latin typeface="Times New Roman" panose="02020603050405020304" pitchFamily="18" charset="0"/>
                <a:cs typeface="Times New Roman" panose="02020603050405020304" pitchFamily="18" charset="0"/>
              </a:rPr>
              <a:t>Monitoring model performance and improving prediction accuracy</a:t>
            </a:r>
          </a:p>
          <a:p>
            <a:pPr algn="l"/>
            <a:endParaRPr lang="en-IN" sz="1400" dirty="0">
              <a:solidFill>
                <a:schemeClr val="bg1"/>
              </a:solidFill>
              <a:latin typeface="Times New Roman" panose="02020603050405020304" pitchFamily="18" charset="0"/>
              <a:cs typeface="Times New Roman" panose="02020603050405020304" pitchFamily="18" charset="0"/>
            </a:endParaRPr>
          </a:p>
          <a:p>
            <a:pPr algn="l"/>
            <a:endParaRPr lang="en-IN" sz="1400" dirty="0">
              <a:solidFill>
                <a:schemeClr val="bg1"/>
              </a:solidFill>
            </a:endParaRPr>
          </a:p>
        </p:txBody>
      </p:sp>
    </p:spTree>
    <p:extLst>
      <p:ext uri="{BB962C8B-B14F-4D97-AF65-F5344CB8AC3E}">
        <p14:creationId xmlns:p14="http://schemas.microsoft.com/office/powerpoint/2010/main" val="4164469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Existing system</a:t>
            </a:r>
            <a:endParaRPr lang="en-IN" dirty="0"/>
          </a:p>
        </p:txBody>
      </p:sp>
      <p:sp>
        <p:nvSpPr>
          <p:cNvPr id="5" name="Subtitle 4"/>
          <p:cNvSpPr>
            <a:spLocks noGrp="1"/>
          </p:cNvSpPr>
          <p:nvPr>
            <p:ph type="subTitle" idx="1"/>
          </p:nvPr>
        </p:nvSpPr>
        <p:spPr>
          <a:xfrm>
            <a:off x="373627" y="1887795"/>
            <a:ext cx="5584722" cy="4139379"/>
          </a:xfrm>
        </p:spPr>
        <p:txBody>
          <a:bodyPr/>
          <a:lstStyle/>
          <a:p>
            <a:pPr algn="l"/>
            <a:r>
              <a:rPr lang="en-US" dirty="0">
                <a:solidFill>
                  <a:schemeClr val="bg1"/>
                </a:solidFill>
                <a:latin typeface="Times New Roman" panose="02020603050405020304" pitchFamily="18" charset="0"/>
                <a:cs typeface="Times New Roman" panose="02020603050405020304" pitchFamily="18" charset="0"/>
              </a:rPr>
              <a:t>In the traditional system:</a:t>
            </a:r>
          </a:p>
          <a:p>
            <a:pPr algn="l"/>
            <a:r>
              <a:rPr lang="en-US" dirty="0">
                <a:solidFill>
                  <a:schemeClr val="bg1"/>
                </a:solidFill>
                <a:latin typeface="Times New Roman" panose="02020603050405020304" pitchFamily="18" charset="0"/>
                <a:cs typeface="Times New Roman" panose="02020603050405020304" pitchFamily="18" charset="0"/>
              </a:rPr>
              <a:t>• Salary decisions are often made manually by HR managers</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 Decisions may be influenced by human bias</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 Salary estimation is time-consuming</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 Lack of data-driven analysis</a:t>
            </a:r>
          </a:p>
          <a:p>
            <a:pPr algn="l"/>
            <a:r>
              <a:rPr lang="en-US" dirty="0">
                <a:solidFill>
                  <a:schemeClr val="bg1"/>
                </a:solidFill>
                <a:latin typeface="Times New Roman" panose="02020603050405020304" pitchFamily="18" charset="0"/>
                <a:cs typeface="Times New Roman" panose="02020603050405020304" pitchFamily="18" charset="0"/>
              </a:rPr>
              <a:t>Limitations:</a:t>
            </a:r>
          </a:p>
          <a:p>
            <a:pPr algn="l"/>
            <a:r>
              <a:rPr lang="en-US" dirty="0">
                <a:solidFill>
                  <a:schemeClr val="bg1"/>
                </a:solidFill>
                <a:latin typeface="Times New Roman" panose="02020603050405020304" pitchFamily="18" charset="0"/>
                <a:cs typeface="Times New Roman" panose="02020603050405020304" pitchFamily="18" charset="0"/>
              </a:rPr>
              <a:t>• Inconsistent salary structures</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 Limited transparency for employees</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 Difficulty analyzing large datasets</a:t>
            </a:r>
          </a:p>
          <a:p>
            <a:pPr algn="l"/>
            <a:endParaRPr lang="en-IN" dirty="0">
              <a:solidFill>
                <a:schemeClr val="bg1"/>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7039896" y="1887795"/>
            <a:ext cx="4857135" cy="39580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4E86-3711-92D3-C228-F7B51ED7B5C5}"/>
              </a:ext>
            </a:extLst>
          </p:cNvPr>
          <p:cNvSpPr>
            <a:spLocks noGrp="1"/>
          </p:cNvSpPr>
          <p:nvPr>
            <p:ph type="ctrTitle"/>
          </p:nvPr>
        </p:nvSpPr>
        <p:spPr>
          <a:xfrm>
            <a:off x="1306902" y="540691"/>
            <a:ext cx="8991600" cy="1305362"/>
          </a:xfrm>
        </p:spPr>
        <p:txBody>
          <a:bodyPr/>
          <a:lstStyle/>
          <a:p>
            <a:r>
              <a:rPr lang="en-IN" dirty="0"/>
              <a:t>Proposed system</a:t>
            </a:r>
          </a:p>
        </p:txBody>
      </p:sp>
      <p:sp>
        <p:nvSpPr>
          <p:cNvPr id="3" name="Subtitle 2">
            <a:extLst>
              <a:ext uri="{FF2B5EF4-FFF2-40B4-BE49-F238E27FC236}">
                <a16:creationId xmlns:a16="http://schemas.microsoft.com/office/drawing/2014/main" id="{E67D7107-F2E8-EF39-BF89-908B6F1E7C48}"/>
              </a:ext>
            </a:extLst>
          </p:cNvPr>
          <p:cNvSpPr>
            <a:spLocks noGrp="1"/>
          </p:cNvSpPr>
          <p:nvPr>
            <p:ph type="subTitle" idx="1"/>
          </p:nvPr>
        </p:nvSpPr>
        <p:spPr>
          <a:xfrm>
            <a:off x="1117599" y="2133600"/>
            <a:ext cx="9050867" cy="3911600"/>
          </a:xfrm>
        </p:spPr>
        <p:txBody>
          <a:bodyPr>
            <a:normAutofit/>
          </a:bodyPr>
          <a:lstStyle/>
          <a:p>
            <a:pPr algn="l"/>
            <a:r>
              <a:rPr lang="en-US" dirty="0">
                <a:solidFill>
                  <a:schemeClr val="bg1"/>
                </a:solidFill>
              </a:rPr>
              <a:t>The proposed system uses Machine Learning algorithms to predict employee salaries automatically.</a:t>
            </a:r>
          </a:p>
          <a:p>
            <a:pPr algn="l"/>
            <a:r>
              <a:rPr lang="en-US" dirty="0">
                <a:solidFill>
                  <a:schemeClr val="bg1"/>
                </a:solidFill>
              </a:rPr>
              <a:t>The system processes historical HR datasets and trains a predictive model that learns salary patterns based on employee attributes.</a:t>
            </a:r>
          </a:p>
          <a:p>
            <a:pPr algn="l"/>
            <a:r>
              <a:rPr lang="en-US" dirty="0">
                <a:solidFill>
                  <a:schemeClr val="bg1"/>
                </a:solidFill>
              </a:rPr>
              <a:t>Key features:</a:t>
            </a:r>
          </a:p>
          <a:p>
            <a:pPr algn="l"/>
            <a:r>
              <a:rPr lang="en-US" dirty="0">
                <a:solidFill>
                  <a:schemeClr val="bg1"/>
                </a:solidFill>
              </a:rPr>
              <a:t>• Automated salary prediction using ML</a:t>
            </a:r>
            <a:br>
              <a:rPr lang="en-US" dirty="0">
                <a:solidFill>
                  <a:schemeClr val="bg1"/>
                </a:solidFill>
              </a:rPr>
            </a:br>
            <a:r>
              <a:rPr lang="en-US" dirty="0">
                <a:solidFill>
                  <a:schemeClr val="bg1"/>
                </a:solidFill>
              </a:rPr>
              <a:t>• Data-driven decision making</a:t>
            </a:r>
            <a:br>
              <a:rPr lang="en-US" dirty="0">
                <a:solidFill>
                  <a:schemeClr val="bg1"/>
                </a:solidFill>
              </a:rPr>
            </a:br>
            <a:r>
              <a:rPr lang="en-US" dirty="0">
                <a:solidFill>
                  <a:schemeClr val="bg1"/>
                </a:solidFill>
              </a:rPr>
              <a:t>• Interactive web interface</a:t>
            </a:r>
            <a:br>
              <a:rPr lang="en-US" dirty="0">
                <a:solidFill>
                  <a:schemeClr val="bg1"/>
                </a:solidFill>
              </a:rPr>
            </a:br>
            <a:r>
              <a:rPr lang="en-US" dirty="0">
                <a:solidFill>
                  <a:schemeClr val="bg1"/>
                </a:solidFill>
              </a:rPr>
              <a:t>• Real-time prediction using </a:t>
            </a:r>
            <a:r>
              <a:rPr lang="en-US" dirty="0" err="1">
                <a:solidFill>
                  <a:schemeClr val="bg1"/>
                </a:solidFill>
              </a:rPr>
              <a:t>FastAPI</a:t>
            </a:r>
            <a:r>
              <a:rPr lang="en-US" dirty="0">
                <a:solidFill>
                  <a:schemeClr val="bg1"/>
                </a:solidFill>
              </a:rPr>
              <a:t> API</a:t>
            </a:r>
            <a:br>
              <a:rPr lang="en-US" dirty="0">
                <a:solidFill>
                  <a:schemeClr val="bg1"/>
                </a:solidFill>
              </a:rPr>
            </a:br>
            <a:r>
              <a:rPr lang="en-US" dirty="0">
                <a:solidFill>
                  <a:schemeClr val="bg1"/>
                </a:solidFill>
              </a:rPr>
              <a:t>• Data visualization using Chart.js</a:t>
            </a:r>
          </a:p>
          <a:p>
            <a:pPr algn="l"/>
            <a:endParaRPr lang="en-IN" dirty="0">
              <a:solidFill>
                <a:schemeClr val="bg1"/>
              </a:solidFill>
            </a:endParaRPr>
          </a:p>
        </p:txBody>
      </p:sp>
    </p:spTree>
    <p:extLst>
      <p:ext uri="{BB962C8B-B14F-4D97-AF65-F5344CB8AC3E}">
        <p14:creationId xmlns:p14="http://schemas.microsoft.com/office/powerpoint/2010/main" val="3321107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F80C-B9DB-29BB-E52D-C17D80EB2337}"/>
              </a:ext>
            </a:extLst>
          </p:cNvPr>
          <p:cNvSpPr>
            <a:spLocks noGrp="1"/>
          </p:cNvSpPr>
          <p:nvPr>
            <p:ph type="ctrTitle"/>
          </p:nvPr>
        </p:nvSpPr>
        <p:spPr>
          <a:xfrm>
            <a:off x="1600200" y="416378"/>
            <a:ext cx="8991600" cy="1239894"/>
          </a:xfrm>
        </p:spPr>
        <p:txBody>
          <a:bodyPr/>
          <a:lstStyle/>
          <a:p>
            <a:r>
              <a:rPr lang="en-IN" dirty="0"/>
              <a:t>Objectives</a:t>
            </a:r>
          </a:p>
        </p:txBody>
      </p:sp>
      <p:sp>
        <p:nvSpPr>
          <p:cNvPr id="3" name="Subtitle 2">
            <a:extLst>
              <a:ext uri="{FF2B5EF4-FFF2-40B4-BE49-F238E27FC236}">
                <a16:creationId xmlns:a16="http://schemas.microsoft.com/office/drawing/2014/main" id="{C06C8BEA-80A6-F443-CAA6-C2DB3E6274CB}"/>
              </a:ext>
            </a:extLst>
          </p:cNvPr>
          <p:cNvSpPr>
            <a:spLocks noGrp="1"/>
          </p:cNvSpPr>
          <p:nvPr>
            <p:ph type="subTitle" idx="1"/>
          </p:nvPr>
        </p:nvSpPr>
        <p:spPr>
          <a:xfrm>
            <a:off x="1600200" y="2358189"/>
            <a:ext cx="8991600" cy="2878114"/>
          </a:xfrm>
        </p:spPr>
        <p:txBody>
          <a:bodyPr>
            <a:normAutofit/>
          </a:bodyPr>
          <a:lstStyle/>
          <a:p>
            <a:pPr algn="l"/>
            <a:r>
              <a:rPr lang="en-US" sz="2400" dirty="0">
                <a:solidFill>
                  <a:schemeClr val="bg1"/>
                </a:solidFill>
              </a:rPr>
              <a:t>Develop an AI-based system to predict employee salaries.</a:t>
            </a:r>
          </a:p>
          <a:p>
            <a:pPr algn="l"/>
            <a:r>
              <a:rPr lang="en-US" sz="2400" dirty="0">
                <a:solidFill>
                  <a:schemeClr val="bg1"/>
                </a:solidFill>
              </a:rPr>
              <a:t>Analyze employee data to identify salary influencing factors.</a:t>
            </a:r>
          </a:p>
          <a:p>
            <a:pPr algn="l"/>
            <a:r>
              <a:rPr lang="en-US" sz="2400" dirty="0">
                <a:solidFill>
                  <a:schemeClr val="bg1"/>
                </a:solidFill>
              </a:rPr>
              <a:t>Implement machine learning models for salary prediction.</a:t>
            </a:r>
          </a:p>
          <a:p>
            <a:pPr algn="l"/>
            <a:r>
              <a:rPr lang="en-US" sz="2400" dirty="0">
                <a:solidFill>
                  <a:schemeClr val="bg1"/>
                </a:solidFill>
              </a:rPr>
              <a:t>Provide accurate and data-driven salary estimations.</a:t>
            </a:r>
          </a:p>
          <a:p>
            <a:pPr algn="l"/>
            <a:r>
              <a:rPr lang="en-US" sz="2400" dirty="0">
                <a:solidFill>
                  <a:schemeClr val="bg1"/>
                </a:solidFill>
              </a:rPr>
              <a:t>Build a user-friendly web interface for predictions.</a:t>
            </a:r>
          </a:p>
          <a:p>
            <a:pPr algn="l"/>
            <a:endParaRPr lang="en-IN" sz="2400" dirty="0">
              <a:solidFill>
                <a:schemeClr val="bg1"/>
              </a:solidFill>
            </a:endParaRPr>
          </a:p>
        </p:txBody>
      </p:sp>
    </p:spTree>
    <p:extLst>
      <p:ext uri="{BB962C8B-B14F-4D97-AF65-F5344CB8AC3E}">
        <p14:creationId xmlns:p14="http://schemas.microsoft.com/office/powerpoint/2010/main" val="2071131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161B-F867-2E5A-880D-35118E6E95E7}"/>
              </a:ext>
            </a:extLst>
          </p:cNvPr>
          <p:cNvSpPr>
            <a:spLocks noGrp="1"/>
          </p:cNvSpPr>
          <p:nvPr>
            <p:ph type="ctrTitle"/>
          </p:nvPr>
        </p:nvSpPr>
        <p:spPr>
          <a:xfrm>
            <a:off x="1600200" y="405441"/>
            <a:ext cx="8991600" cy="1239893"/>
          </a:xfrm>
        </p:spPr>
        <p:txBody>
          <a:bodyPr/>
          <a:lstStyle/>
          <a:p>
            <a:r>
              <a:rPr lang="en-IN" dirty="0"/>
              <a:t>Software requirements</a:t>
            </a:r>
          </a:p>
        </p:txBody>
      </p:sp>
      <p:sp>
        <p:nvSpPr>
          <p:cNvPr id="3" name="Subtitle 2">
            <a:extLst>
              <a:ext uri="{FF2B5EF4-FFF2-40B4-BE49-F238E27FC236}">
                <a16:creationId xmlns:a16="http://schemas.microsoft.com/office/drawing/2014/main" id="{C39A5226-01E7-E749-7996-917821C583B7}"/>
              </a:ext>
            </a:extLst>
          </p:cNvPr>
          <p:cNvSpPr>
            <a:spLocks noGrp="1"/>
          </p:cNvSpPr>
          <p:nvPr>
            <p:ph type="subTitle" idx="1"/>
          </p:nvPr>
        </p:nvSpPr>
        <p:spPr>
          <a:xfrm>
            <a:off x="1600200" y="2329314"/>
            <a:ext cx="8991600" cy="3715351"/>
          </a:xfrm>
        </p:spPr>
        <p:txBody>
          <a:bodyPr>
            <a:normAutofit fontScale="62500" lnSpcReduction="20000"/>
          </a:bodyPr>
          <a:lstStyle/>
          <a:p>
            <a:pPr algn="l"/>
            <a:r>
              <a:rPr lang="en-IN" sz="3600" dirty="0">
                <a:solidFill>
                  <a:schemeClr val="bg1"/>
                </a:solidFill>
              </a:rPr>
              <a:t>• Python</a:t>
            </a:r>
            <a:br>
              <a:rPr lang="en-IN" sz="3600" dirty="0">
                <a:solidFill>
                  <a:schemeClr val="bg1"/>
                </a:solidFill>
              </a:rPr>
            </a:br>
            <a:r>
              <a:rPr lang="en-IN" sz="3600" dirty="0">
                <a:solidFill>
                  <a:schemeClr val="bg1"/>
                </a:solidFill>
              </a:rPr>
              <a:t>• </a:t>
            </a:r>
            <a:r>
              <a:rPr lang="en-IN" sz="3600" dirty="0" err="1">
                <a:solidFill>
                  <a:schemeClr val="bg1"/>
                </a:solidFill>
              </a:rPr>
              <a:t>FastAPI</a:t>
            </a:r>
            <a:br>
              <a:rPr lang="en-IN" sz="3600" dirty="0">
                <a:solidFill>
                  <a:schemeClr val="bg1"/>
                </a:solidFill>
              </a:rPr>
            </a:br>
            <a:r>
              <a:rPr lang="en-IN" sz="3600" dirty="0">
                <a:solidFill>
                  <a:schemeClr val="bg1"/>
                </a:solidFill>
              </a:rPr>
              <a:t>• </a:t>
            </a:r>
            <a:r>
              <a:rPr lang="en-IN" sz="3600" dirty="0" err="1">
                <a:solidFill>
                  <a:schemeClr val="bg1"/>
                </a:solidFill>
              </a:rPr>
              <a:t>Uvicorn</a:t>
            </a:r>
            <a:br>
              <a:rPr lang="en-IN" sz="3600" dirty="0">
                <a:solidFill>
                  <a:schemeClr val="bg1"/>
                </a:solidFill>
              </a:rPr>
            </a:br>
            <a:r>
              <a:rPr lang="en-IN" sz="3600" dirty="0">
                <a:solidFill>
                  <a:schemeClr val="bg1"/>
                </a:solidFill>
              </a:rPr>
              <a:t>• Scikit-Learn</a:t>
            </a:r>
            <a:br>
              <a:rPr lang="en-IN" sz="3600" dirty="0">
                <a:solidFill>
                  <a:schemeClr val="bg1"/>
                </a:solidFill>
              </a:rPr>
            </a:br>
            <a:r>
              <a:rPr lang="en-IN" sz="3600" dirty="0">
                <a:solidFill>
                  <a:schemeClr val="bg1"/>
                </a:solidFill>
              </a:rPr>
              <a:t>• Pandas</a:t>
            </a:r>
            <a:br>
              <a:rPr lang="en-IN" sz="3600" dirty="0">
                <a:solidFill>
                  <a:schemeClr val="bg1"/>
                </a:solidFill>
              </a:rPr>
            </a:br>
            <a:r>
              <a:rPr lang="en-IN" sz="3600" dirty="0">
                <a:solidFill>
                  <a:schemeClr val="bg1"/>
                </a:solidFill>
              </a:rPr>
              <a:t>• </a:t>
            </a:r>
            <a:r>
              <a:rPr lang="en-IN" sz="3600" dirty="0" err="1">
                <a:solidFill>
                  <a:schemeClr val="bg1"/>
                </a:solidFill>
              </a:rPr>
              <a:t>Joblib</a:t>
            </a:r>
            <a:br>
              <a:rPr lang="en-IN" sz="3600" dirty="0">
                <a:solidFill>
                  <a:schemeClr val="bg1"/>
                </a:solidFill>
              </a:rPr>
            </a:br>
            <a:r>
              <a:rPr lang="en-IN" sz="3600" dirty="0">
                <a:solidFill>
                  <a:schemeClr val="bg1"/>
                </a:solidFill>
              </a:rPr>
              <a:t>• HTML / CSS</a:t>
            </a:r>
            <a:br>
              <a:rPr lang="en-IN" sz="3600" dirty="0">
                <a:solidFill>
                  <a:schemeClr val="bg1"/>
                </a:solidFill>
              </a:rPr>
            </a:br>
            <a:r>
              <a:rPr lang="en-IN" sz="3600" dirty="0">
                <a:solidFill>
                  <a:schemeClr val="bg1"/>
                </a:solidFill>
              </a:rPr>
              <a:t>• JavaScript</a:t>
            </a:r>
            <a:br>
              <a:rPr lang="en-IN" sz="3600" dirty="0">
                <a:solidFill>
                  <a:schemeClr val="bg1"/>
                </a:solidFill>
              </a:rPr>
            </a:br>
            <a:r>
              <a:rPr lang="en-IN" sz="3600" dirty="0">
                <a:solidFill>
                  <a:schemeClr val="bg1"/>
                </a:solidFill>
              </a:rPr>
              <a:t>• Chart.js</a:t>
            </a:r>
          </a:p>
          <a:p>
            <a:pPr algn="l"/>
            <a:r>
              <a:rPr lang="en-IN" sz="3600" dirty="0">
                <a:solidFill>
                  <a:schemeClr val="bg1"/>
                </a:solidFill>
              </a:rPr>
              <a:t>Tools used:</a:t>
            </a:r>
          </a:p>
          <a:p>
            <a:pPr algn="l"/>
            <a:r>
              <a:rPr lang="en-IN" sz="3600" dirty="0">
                <a:solidFill>
                  <a:schemeClr val="bg1"/>
                </a:solidFill>
              </a:rPr>
              <a:t>• VS Code</a:t>
            </a:r>
            <a:br>
              <a:rPr lang="en-IN" sz="3600" dirty="0">
                <a:solidFill>
                  <a:schemeClr val="bg1"/>
                </a:solidFill>
              </a:rPr>
            </a:br>
            <a:r>
              <a:rPr lang="en-IN" sz="3600" dirty="0">
                <a:solidFill>
                  <a:schemeClr val="bg1"/>
                </a:solidFill>
              </a:rPr>
              <a:t>• GitHub</a:t>
            </a:r>
          </a:p>
          <a:p>
            <a:pPr algn="l"/>
            <a:endParaRPr lang="en-IN" sz="3400" dirty="0">
              <a:solidFill>
                <a:schemeClr val="bg1"/>
              </a:solidFill>
            </a:endParaRPr>
          </a:p>
        </p:txBody>
      </p:sp>
      <p:pic>
        <p:nvPicPr>
          <p:cNvPr id="4" name="Content Placeholder 9">
            <a:extLst>
              <a:ext uri="{FF2B5EF4-FFF2-40B4-BE49-F238E27FC236}">
                <a16:creationId xmlns:a16="http://schemas.microsoft.com/office/drawing/2014/main" id="{675E704F-C12F-6056-3D3C-F637D0B11C30}"/>
              </a:ext>
            </a:extLst>
          </p:cNvPr>
          <p:cNvPicPr>
            <a:picLocks noGrp="1" noChangeAspect="1"/>
          </p:cNvPicPr>
          <p:nvPr/>
        </p:nvPicPr>
        <p:blipFill>
          <a:blip r:embed="rId2"/>
          <a:stretch>
            <a:fillRect/>
          </a:stretch>
        </p:blipFill>
        <p:spPr>
          <a:xfrm>
            <a:off x="4630791" y="1869905"/>
            <a:ext cx="6626118" cy="4634168"/>
          </a:xfrm>
          <a:prstGeom prst="rect">
            <a:avLst/>
          </a:prstGeom>
        </p:spPr>
      </p:pic>
    </p:spTree>
    <p:extLst>
      <p:ext uri="{BB962C8B-B14F-4D97-AF65-F5344CB8AC3E}">
        <p14:creationId xmlns:p14="http://schemas.microsoft.com/office/powerpoint/2010/main" val="1618906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DDD-652B-7175-744D-D2990D9C81D1}"/>
              </a:ext>
            </a:extLst>
          </p:cNvPr>
          <p:cNvSpPr>
            <a:spLocks noGrp="1"/>
          </p:cNvSpPr>
          <p:nvPr>
            <p:ph type="ctrTitle"/>
          </p:nvPr>
        </p:nvSpPr>
        <p:spPr>
          <a:xfrm>
            <a:off x="1600200" y="474454"/>
            <a:ext cx="8991600" cy="1147312"/>
          </a:xfrm>
        </p:spPr>
        <p:txBody>
          <a:bodyPr/>
          <a:lstStyle/>
          <a:p>
            <a:r>
              <a:rPr lang="en-IN" dirty="0"/>
              <a:t>Hardware requirements</a:t>
            </a:r>
          </a:p>
        </p:txBody>
      </p:sp>
      <p:sp>
        <p:nvSpPr>
          <p:cNvPr id="3" name="Subtitle 2">
            <a:extLst>
              <a:ext uri="{FF2B5EF4-FFF2-40B4-BE49-F238E27FC236}">
                <a16:creationId xmlns:a16="http://schemas.microsoft.com/office/drawing/2014/main" id="{503926B3-A3FC-7687-9DEF-38613303658D}"/>
              </a:ext>
            </a:extLst>
          </p:cNvPr>
          <p:cNvSpPr>
            <a:spLocks noGrp="1"/>
          </p:cNvSpPr>
          <p:nvPr>
            <p:ph type="subTitle" idx="1"/>
          </p:nvPr>
        </p:nvSpPr>
        <p:spPr>
          <a:xfrm>
            <a:off x="1600200" y="2298299"/>
            <a:ext cx="8991599" cy="3255638"/>
          </a:xfrm>
        </p:spPr>
        <p:txBody>
          <a:bodyPr/>
          <a:lstStyle/>
          <a:p>
            <a:pPr algn="l"/>
            <a:r>
              <a:rPr lang="en-US" sz="2400" dirty="0">
                <a:solidFill>
                  <a:schemeClr val="bg1"/>
                </a:solidFill>
              </a:rPr>
              <a:t>• Processor: Intel i3 or higher</a:t>
            </a:r>
            <a:br>
              <a:rPr lang="en-US" sz="2400" dirty="0">
                <a:solidFill>
                  <a:schemeClr val="bg1"/>
                </a:solidFill>
              </a:rPr>
            </a:br>
            <a:r>
              <a:rPr lang="en-US" sz="2400" dirty="0">
                <a:solidFill>
                  <a:schemeClr val="bg1"/>
                </a:solidFill>
              </a:rPr>
              <a:t>• RAM: 4 GB or higher</a:t>
            </a:r>
            <a:br>
              <a:rPr lang="en-US" sz="2400" dirty="0">
                <a:solidFill>
                  <a:schemeClr val="bg1"/>
                </a:solidFill>
              </a:rPr>
            </a:br>
            <a:r>
              <a:rPr lang="en-US" sz="2400" dirty="0">
                <a:solidFill>
                  <a:schemeClr val="bg1"/>
                </a:solidFill>
              </a:rPr>
              <a:t>• Storage: 10 GB minimum</a:t>
            </a:r>
            <a:br>
              <a:rPr lang="en-US" sz="2400" dirty="0">
                <a:solidFill>
                  <a:schemeClr val="bg1"/>
                </a:solidFill>
              </a:rPr>
            </a:br>
            <a:r>
              <a:rPr lang="en-US" sz="2400" dirty="0">
                <a:solidFill>
                  <a:schemeClr val="bg1"/>
                </a:solidFill>
              </a:rPr>
              <a:t>• Operating System: Windows / Linux / MacOS</a:t>
            </a:r>
            <a:endParaRPr lang="en-IN" sz="2400" dirty="0">
              <a:solidFill>
                <a:schemeClr val="bg1"/>
              </a:solidFill>
            </a:endParaRPr>
          </a:p>
        </p:txBody>
      </p:sp>
    </p:spTree>
    <p:extLst>
      <p:ext uri="{BB962C8B-B14F-4D97-AF65-F5344CB8AC3E}">
        <p14:creationId xmlns:p14="http://schemas.microsoft.com/office/powerpoint/2010/main" val="3408330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48239"/>
            <a:ext cx="8703733" cy="974116"/>
          </a:xfrm>
        </p:spPr>
        <p:txBody>
          <a:bodyPr>
            <a:noAutofit/>
          </a:bodyPr>
          <a:lstStyle/>
          <a:p>
            <a:r>
              <a:rPr lang="en-US" sz="2800" dirty="0">
                <a:latin typeface="Times New Roman" panose="02020603050405020304" pitchFamily="18" charset="0"/>
                <a:cs typeface="Times New Roman" panose="02020603050405020304" pitchFamily="18" charset="0"/>
              </a:rPr>
              <a:t>FUNCTIONAL  requirements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AD370F-66A5-D81F-C019-4E8D6007200A}"/>
              </a:ext>
            </a:extLst>
          </p:cNvPr>
          <p:cNvSpPr txBox="1"/>
          <p:nvPr/>
        </p:nvSpPr>
        <p:spPr>
          <a:xfrm>
            <a:off x="1586204" y="2119228"/>
            <a:ext cx="8703733" cy="3108543"/>
          </a:xfrm>
          <a:prstGeom prst="rect">
            <a:avLst/>
          </a:prstGeom>
          <a:noFill/>
        </p:spPr>
        <p:txBody>
          <a:bodyPr wrap="square">
            <a:spAutoFit/>
          </a:bodyPr>
          <a:lstStyle/>
          <a:p>
            <a:r>
              <a:rPr lang="en-US" sz="2800" dirty="0">
                <a:solidFill>
                  <a:schemeClr val="bg1"/>
                </a:solidFill>
              </a:rPr>
              <a:t>The system should:</a:t>
            </a:r>
          </a:p>
          <a:p>
            <a:r>
              <a:rPr lang="en-US" sz="2800" dirty="0">
                <a:solidFill>
                  <a:schemeClr val="bg1"/>
                </a:solidFill>
              </a:rPr>
              <a:t>• Accept employee details as input</a:t>
            </a:r>
            <a:br>
              <a:rPr lang="en-US" sz="2800" dirty="0">
                <a:solidFill>
                  <a:schemeClr val="bg1"/>
                </a:solidFill>
              </a:rPr>
            </a:br>
            <a:r>
              <a:rPr lang="en-US" sz="2800" dirty="0">
                <a:solidFill>
                  <a:schemeClr val="bg1"/>
                </a:solidFill>
              </a:rPr>
              <a:t>• Process the input using the trained ML model</a:t>
            </a:r>
            <a:br>
              <a:rPr lang="en-US" sz="2800" dirty="0">
                <a:solidFill>
                  <a:schemeClr val="bg1"/>
                </a:solidFill>
              </a:rPr>
            </a:br>
            <a:r>
              <a:rPr lang="en-US" sz="2800" dirty="0">
                <a:solidFill>
                  <a:schemeClr val="bg1"/>
                </a:solidFill>
              </a:rPr>
              <a:t>• Predict employee salary</a:t>
            </a:r>
            <a:br>
              <a:rPr lang="en-US" sz="2800" dirty="0">
                <a:solidFill>
                  <a:schemeClr val="bg1"/>
                </a:solidFill>
              </a:rPr>
            </a:br>
            <a:r>
              <a:rPr lang="en-US" sz="2800" dirty="0">
                <a:solidFill>
                  <a:schemeClr val="bg1"/>
                </a:solidFill>
              </a:rPr>
              <a:t>• Display prediction results in the web interface</a:t>
            </a:r>
            <a:br>
              <a:rPr lang="en-US" sz="2800" dirty="0">
                <a:solidFill>
                  <a:schemeClr val="bg1"/>
                </a:solidFill>
              </a:rPr>
            </a:br>
            <a:r>
              <a:rPr lang="en-US" sz="2800" dirty="0">
                <a:solidFill>
                  <a:schemeClr val="bg1"/>
                </a:solidFill>
              </a:rPr>
              <a:t>• Provide analytics charts for data visualization</a:t>
            </a:r>
          </a:p>
          <a:p>
            <a:endParaRPr lang="en-IN" sz="2800" dirty="0">
              <a:solidFill>
                <a:schemeClr val="bg1"/>
              </a:solidFill>
            </a:endParaRPr>
          </a:p>
        </p:txBody>
      </p:sp>
    </p:spTree>
    <p:extLst>
      <p:ext uri="{BB962C8B-B14F-4D97-AF65-F5344CB8AC3E}">
        <p14:creationId xmlns:p14="http://schemas.microsoft.com/office/powerpoint/2010/main" val="3412229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7674-5984-2F59-F6CD-2D0A70C837A6}"/>
              </a:ext>
            </a:extLst>
          </p:cNvPr>
          <p:cNvSpPr>
            <a:spLocks noGrp="1"/>
          </p:cNvSpPr>
          <p:nvPr>
            <p:ph type="ctrTitle"/>
          </p:nvPr>
        </p:nvSpPr>
        <p:spPr>
          <a:xfrm>
            <a:off x="1600200" y="345058"/>
            <a:ext cx="8991600" cy="1052422"/>
          </a:xfrm>
        </p:spPr>
        <p:txBody>
          <a:bodyPr>
            <a:normAutofit fontScale="90000"/>
          </a:bodyPr>
          <a:lstStyle/>
          <a:p>
            <a:r>
              <a:rPr lang="en-IN" dirty="0"/>
              <a:t>Non - functional requirements</a:t>
            </a:r>
          </a:p>
        </p:txBody>
      </p:sp>
      <p:sp>
        <p:nvSpPr>
          <p:cNvPr id="3" name="Subtitle 2">
            <a:extLst>
              <a:ext uri="{FF2B5EF4-FFF2-40B4-BE49-F238E27FC236}">
                <a16:creationId xmlns:a16="http://schemas.microsoft.com/office/drawing/2014/main" id="{080C1CC3-9DB9-EE6E-134C-6FF56C1BFB53}"/>
              </a:ext>
            </a:extLst>
          </p:cNvPr>
          <p:cNvSpPr>
            <a:spLocks noGrp="1"/>
          </p:cNvSpPr>
          <p:nvPr>
            <p:ph type="subTitle" idx="1"/>
          </p:nvPr>
        </p:nvSpPr>
        <p:spPr>
          <a:xfrm>
            <a:off x="1328286" y="2290813"/>
            <a:ext cx="10241279" cy="3301625"/>
          </a:xfrm>
        </p:spPr>
        <p:txBody>
          <a:bodyPr>
            <a:normAutofit/>
          </a:bodyPr>
          <a:lstStyle/>
          <a:p>
            <a:pPr algn="l"/>
            <a:r>
              <a:rPr lang="en-US" sz="2400" dirty="0">
                <a:solidFill>
                  <a:schemeClr val="bg1"/>
                </a:solidFill>
              </a:rPr>
              <a:t>• Reliability – system should provide consistent predictions</a:t>
            </a:r>
            <a:br>
              <a:rPr lang="en-US" sz="2400" dirty="0">
                <a:solidFill>
                  <a:schemeClr val="bg1"/>
                </a:solidFill>
              </a:rPr>
            </a:br>
            <a:r>
              <a:rPr lang="en-US" sz="2400" dirty="0">
                <a:solidFill>
                  <a:schemeClr val="bg1"/>
                </a:solidFill>
              </a:rPr>
              <a:t>• Performance – API response should be fast</a:t>
            </a:r>
            <a:br>
              <a:rPr lang="en-US" sz="2400" dirty="0">
                <a:solidFill>
                  <a:schemeClr val="bg1"/>
                </a:solidFill>
              </a:rPr>
            </a:br>
            <a:r>
              <a:rPr lang="en-US" sz="2400" dirty="0">
                <a:solidFill>
                  <a:schemeClr val="bg1"/>
                </a:solidFill>
              </a:rPr>
              <a:t>• Scalability – system should support more datasets</a:t>
            </a:r>
            <a:br>
              <a:rPr lang="en-US" sz="2400" dirty="0">
                <a:solidFill>
                  <a:schemeClr val="bg1"/>
                </a:solidFill>
              </a:rPr>
            </a:br>
            <a:r>
              <a:rPr lang="en-US" sz="2400" dirty="0">
                <a:solidFill>
                  <a:schemeClr val="bg1"/>
                </a:solidFill>
              </a:rPr>
              <a:t>• Security – API endpoints must be protected</a:t>
            </a:r>
          </a:p>
          <a:p>
            <a:pPr algn="l"/>
            <a:endParaRPr lang="en-IN" sz="2400" dirty="0">
              <a:solidFill>
                <a:schemeClr val="bg1"/>
              </a:solidFill>
            </a:endParaRPr>
          </a:p>
        </p:txBody>
      </p:sp>
    </p:spTree>
    <p:extLst>
      <p:ext uri="{BB962C8B-B14F-4D97-AF65-F5344CB8AC3E}">
        <p14:creationId xmlns:p14="http://schemas.microsoft.com/office/powerpoint/2010/main" val="299499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0413" y="322839"/>
            <a:ext cx="7551173" cy="974116"/>
          </a:xfrm>
        </p:spPr>
        <p:txBody>
          <a:bodyPr>
            <a:normAutofit/>
          </a:bodyPr>
          <a:lstStyle/>
          <a:p>
            <a:r>
              <a:rPr lang="en-US" dirty="0"/>
              <a:t>Literature survey</a:t>
            </a:r>
            <a:endParaRPr lang="en-IN" dirty="0"/>
          </a:p>
        </p:txBody>
      </p:sp>
      <p:graphicFrame>
        <p:nvGraphicFramePr>
          <p:cNvPr id="3" name="Table 3"/>
          <p:cNvGraphicFramePr>
            <a:graphicFrameLocks noGrp="1"/>
          </p:cNvGraphicFramePr>
          <p:nvPr>
            <p:extLst>
              <p:ext uri="{D42A27DB-BD31-4B8C-83A1-F6EECF244321}">
                <p14:modId xmlns:p14="http://schemas.microsoft.com/office/powerpoint/2010/main" val="103678481"/>
              </p:ext>
            </p:extLst>
          </p:nvPr>
        </p:nvGraphicFramePr>
        <p:xfrm>
          <a:off x="864079" y="1742535"/>
          <a:ext cx="10463841" cy="4777204"/>
        </p:xfrm>
        <a:graphic>
          <a:graphicData uri="http://schemas.openxmlformats.org/drawingml/2006/table">
            <a:tbl>
              <a:tblPr firstRow="1" bandRow="1">
                <a:tableStyleId>{073A0DAA-6AF3-43AB-8588-CEC1D06C72B9}</a:tableStyleId>
              </a:tblPr>
              <a:tblGrid>
                <a:gridCol w="637366">
                  <a:extLst>
                    <a:ext uri="{9D8B030D-6E8A-4147-A177-3AD203B41FA5}">
                      <a16:colId xmlns:a16="http://schemas.microsoft.com/office/drawing/2014/main" val="20000"/>
                    </a:ext>
                  </a:extLst>
                </a:gridCol>
                <a:gridCol w="2693457">
                  <a:extLst>
                    <a:ext uri="{9D8B030D-6E8A-4147-A177-3AD203B41FA5}">
                      <a16:colId xmlns:a16="http://schemas.microsoft.com/office/drawing/2014/main" val="20001"/>
                    </a:ext>
                  </a:extLst>
                </a:gridCol>
                <a:gridCol w="2830961">
                  <a:extLst>
                    <a:ext uri="{9D8B030D-6E8A-4147-A177-3AD203B41FA5}">
                      <a16:colId xmlns:a16="http://schemas.microsoft.com/office/drawing/2014/main" val="20002"/>
                    </a:ext>
                  </a:extLst>
                </a:gridCol>
                <a:gridCol w="1735582">
                  <a:extLst>
                    <a:ext uri="{9D8B030D-6E8A-4147-A177-3AD203B41FA5}">
                      <a16:colId xmlns:a16="http://schemas.microsoft.com/office/drawing/2014/main" val="20003"/>
                    </a:ext>
                  </a:extLst>
                </a:gridCol>
                <a:gridCol w="2566475">
                  <a:extLst>
                    <a:ext uri="{9D8B030D-6E8A-4147-A177-3AD203B41FA5}">
                      <a16:colId xmlns:a16="http://schemas.microsoft.com/office/drawing/2014/main" val="20004"/>
                    </a:ext>
                  </a:extLst>
                </a:gridCol>
              </a:tblGrid>
              <a:tr h="823383">
                <a:tc>
                  <a:txBody>
                    <a:bodyPr/>
                    <a:lstStyle/>
                    <a:p>
                      <a:pPr algn="ctr"/>
                      <a:r>
                        <a:rPr lang="en-IN" sz="1100" dirty="0">
                          <a:latin typeface="Times New Roman" panose="02020603050405020304" pitchFamily="18" charset="0"/>
                          <a:cs typeface="Times New Roman" panose="02020603050405020304" pitchFamily="18" charset="0"/>
                        </a:rPr>
                        <a:t>S. No</a:t>
                      </a:r>
                    </a:p>
                  </a:txBody>
                  <a:tcPr/>
                </a:tc>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extLst>
                  <a:ext uri="{0D108BD9-81ED-4DB2-BD59-A6C34878D82A}">
                    <a16:rowId xmlns:a16="http://schemas.microsoft.com/office/drawing/2014/main" val="10000"/>
                  </a:ext>
                </a:extLst>
              </a:tr>
              <a:tr h="1563135">
                <a:tc>
                  <a:txBody>
                    <a:bodyPr/>
                    <a:lstStyle/>
                    <a:p>
                      <a:r>
                        <a:rPr lang="en-IN" sz="1100" dirty="0">
                          <a:latin typeface="Times New Roman" panose="02020603050405020304" pitchFamily="18" charset="0"/>
                          <a:cs typeface="Times New Roman" panose="02020603050405020304" pitchFamily="18" charset="0"/>
                        </a:rPr>
                        <a:t>1</a:t>
                      </a:r>
                    </a:p>
                  </a:txBody>
                  <a:tcPr/>
                </a:tc>
                <a:tc>
                  <a:txBody>
                    <a:bodyPr/>
                    <a:lstStyle/>
                    <a:p>
                      <a:r>
                        <a:rPr lang="en-US" sz="1100" dirty="0"/>
                        <a:t>Employee Salary Prediction using Machine Learning Techniques (2021)</a:t>
                      </a:r>
                    </a:p>
                    <a:p>
                      <a:r>
                        <a:rPr lang="en-IN" sz="1100" dirty="0">
                          <a:hlinkClick r:id="rId3"/>
                        </a:rPr>
                        <a:t>https://ijarsct.co.in/Paper29720.pdf</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t>S. Kumar, R. Sharma</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t>Linear Regression, Random Forest</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b="1" dirty="0"/>
                        <a:t>Advantage:</a:t>
                      </a:r>
                      <a:r>
                        <a:rPr lang="en-US" sz="1100" dirty="0"/>
                        <a:t> Accurate salary prediction using ML models. </a:t>
                      </a:r>
                      <a:r>
                        <a:rPr lang="en-US" sz="1100" b="1" dirty="0"/>
                        <a:t>Disadvantage:</a:t>
                      </a:r>
                      <a:r>
                        <a:rPr lang="en-US" sz="1100" dirty="0"/>
                        <a:t> Limited features like skills and company size were not included.</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317942">
                <a:tc>
                  <a:txBody>
                    <a:bodyPr/>
                    <a:lstStyle/>
                    <a:p>
                      <a:r>
                        <a:rPr lang="en-IN" sz="11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100" dirty="0"/>
                        <a:t>AI-Based Salary Prediction System using Machine Learning (2022)</a:t>
                      </a:r>
                    </a:p>
                    <a:p>
                      <a:pPr marL="0" marR="0" lvl="0" indent="0" algn="l" defTabSz="914400" rtl="0" eaLnBrk="1" fontAlgn="auto" latinLnBrk="0" hangingPunct="1">
                        <a:lnSpc>
                          <a:spcPct val="100000"/>
                        </a:lnSpc>
                        <a:spcBef>
                          <a:spcPts val="0"/>
                        </a:spcBef>
                        <a:spcAft>
                          <a:spcPts val="0"/>
                        </a:spcAft>
                        <a:buClrTx/>
                        <a:buSzTx/>
                        <a:buFontTx/>
                        <a:buNone/>
                        <a:defRPr/>
                      </a:pPr>
                      <a:r>
                        <a:rPr lang="en-IN" sz="1100" dirty="0">
                          <a:hlinkClick r:id="rId4"/>
                        </a:rPr>
                        <a:t>https://www.researchgate.net/publication/371383163_Salary_Prediction_System_using_Machine_Learning</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t>A. Patel, M. Singh</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t>Decision Tree, Support Vector Machine</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b="1" dirty="0"/>
                        <a:t>Advantage:</a:t>
                      </a:r>
                      <a:r>
                        <a:rPr lang="en-US" sz="1100" dirty="0"/>
                        <a:t> Improved prediction accuracy using multiple algorithms. </a:t>
                      </a:r>
                      <a:r>
                        <a:rPr lang="en-US" sz="1100" b="1" dirty="0"/>
                        <a:t>Disadvantage:</a:t>
                      </a:r>
                      <a:r>
                        <a:rPr lang="en-US" sz="1100" dirty="0"/>
                        <a:t> Dataset size was small.</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072744">
                <a:tc>
                  <a:txBody>
                    <a:bodyPr/>
                    <a:lstStyle/>
                    <a:p>
                      <a:r>
                        <a:rPr lang="en-IN" sz="11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100" dirty="0"/>
                        <a:t>Predicting Employee Compensation using Machine Learning (2020)</a:t>
                      </a:r>
                    </a:p>
                    <a:p>
                      <a:pPr marL="0" marR="0" lvl="0" indent="0" algn="l" defTabSz="914400" rtl="0" eaLnBrk="1" fontAlgn="auto" latinLnBrk="0" hangingPunct="1">
                        <a:lnSpc>
                          <a:spcPct val="100000"/>
                        </a:lnSpc>
                        <a:spcBef>
                          <a:spcPts val="0"/>
                        </a:spcBef>
                        <a:spcAft>
                          <a:spcPts val="0"/>
                        </a:spcAft>
                        <a:buClrTx/>
                        <a:buSzTx/>
                        <a:buFontTx/>
                        <a:buNone/>
                        <a:defRPr/>
                      </a:pPr>
                      <a:r>
                        <a:rPr lang="en-IN" sz="1100" dirty="0">
                          <a:hlinkClick r:id="rId5"/>
                        </a:rPr>
                        <a:t>https://ijstmr.com/wp-content/uploads/2023/04/IJSTMR_V8I04_1267.pdf</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t>J. Brown, T. Wilson</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t>Linear Regression, Gradient Boosting</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b="1" dirty="0"/>
                        <a:t>Advantage:</a:t>
                      </a:r>
                      <a:r>
                        <a:rPr lang="en-US" sz="1100" dirty="0"/>
                        <a:t> Provides data-driven compensation analysis. </a:t>
                      </a:r>
                      <a:r>
                        <a:rPr lang="en-US" sz="1100" b="1" dirty="0"/>
                        <a:t>Disadvantage:</a:t>
                      </a:r>
                      <a:r>
                        <a:rPr lang="en-US" sz="1100" dirty="0"/>
                        <a:t> Requires high-quality datasets.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 you</a:t>
            </a:r>
            <a:endParaRPr lang="en-IN" dirty="0"/>
          </a:p>
        </p:txBody>
      </p:sp>
      <p:graphicFrame>
        <p:nvGraphicFramePr>
          <p:cNvPr id="3" name="Table 3">
            <a:extLst>
              <a:ext uri="{FF2B5EF4-FFF2-40B4-BE49-F238E27FC236}">
                <a16:creationId xmlns:a16="http://schemas.microsoft.com/office/drawing/2014/main" id="{FDA493FD-6CAC-82F4-A981-CEAC1275D62D}"/>
              </a:ext>
            </a:extLst>
          </p:cNvPr>
          <p:cNvGraphicFramePr>
            <a:graphicFrameLocks noGrp="1"/>
          </p:cNvGraphicFramePr>
          <p:nvPr>
            <p:extLst>
              <p:ext uri="{D42A27DB-BD31-4B8C-83A1-F6EECF244321}">
                <p14:modId xmlns:p14="http://schemas.microsoft.com/office/powerpoint/2010/main" val="370918768"/>
              </p:ext>
            </p:extLst>
          </p:nvPr>
        </p:nvGraphicFramePr>
        <p:xfrm>
          <a:off x="517585" y="897147"/>
          <a:ext cx="10964174" cy="5365630"/>
        </p:xfrm>
        <a:graphic>
          <a:graphicData uri="http://schemas.openxmlformats.org/drawingml/2006/table">
            <a:tbl>
              <a:tblPr firstRow="1" bandRow="1">
                <a:tableStyleId>{073A0DAA-6AF3-43AB-8588-CEC1D06C72B9}</a:tableStyleId>
              </a:tblPr>
              <a:tblGrid>
                <a:gridCol w="833378">
                  <a:extLst>
                    <a:ext uri="{9D8B030D-6E8A-4147-A177-3AD203B41FA5}">
                      <a16:colId xmlns:a16="http://schemas.microsoft.com/office/drawing/2014/main" val="20000"/>
                    </a:ext>
                  </a:extLst>
                </a:gridCol>
                <a:gridCol w="2776873">
                  <a:extLst>
                    <a:ext uri="{9D8B030D-6E8A-4147-A177-3AD203B41FA5}">
                      <a16:colId xmlns:a16="http://schemas.microsoft.com/office/drawing/2014/main" val="20001"/>
                    </a:ext>
                  </a:extLst>
                </a:gridCol>
                <a:gridCol w="2918634">
                  <a:extLst>
                    <a:ext uri="{9D8B030D-6E8A-4147-A177-3AD203B41FA5}">
                      <a16:colId xmlns:a16="http://schemas.microsoft.com/office/drawing/2014/main" val="20002"/>
                    </a:ext>
                  </a:extLst>
                </a:gridCol>
                <a:gridCol w="1795605">
                  <a:extLst>
                    <a:ext uri="{9D8B030D-6E8A-4147-A177-3AD203B41FA5}">
                      <a16:colId xmlns:a16="http://schemas.microsoft.com/office/drawing/2014/main" val="20003"/>
                    </a:ext>
                  </a:extLst>
                </a:gridCol>
                <a:gridCol w="2639684">
                  <a:extLst>
                    <a:ext uri="{9D8B030D-6E8A-4147-A177-3AD203B41FA5}">
                      <a16:colId xmlns:a16="http://schemas.microsoft.com/office/drawing/2014/main" val="20004"/>
                    </a:ext>
                  </a:extLst>
                </a:gridCol>
              </a:tblGrid>
              <a:tr h="693238">
                <a:tc>
                  <a:txBody>
                    <a:bodyPr/>
                    <a:lstStyle/>
                    <a:p>
                      <a:pPr algn="ctr"/>
                      <a:r>
                        <a:rPr lang="en-IN" sz="1100">
                          <a:latin typeface="Times New Roman" panose="02020603050405020304" pitchFamily="18" charset="0"/>
                          <a:cs typeface="Times New Roman" panose="02020603050405020304" pitchFamily="18" charset="0"/>
                        </a:rPr>
                        <a:t>S. No</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IN" sz="1100">
                          <a:latin typeface="Times New Roman" panose="02020603050405020304" pitchFamily="18" charset="0"/>
                          <a:cs typeface="Times New Roman" panose="02020603050405020304" pitchFamily="18" charset="0"/>
                        </a:rPr>
                        <a:t>Name of the research paper</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IN" sz="1100">
                          <a:latin typeface="Times New Roman" panose="02020603050405020304" pitchFamily="18" charset="0"/>
                          <a:cs typeface="Times New Roman" panose="02020603050405020304" pitchFamily="18" charset="0"/>
                        </a:rPr>
                        <a:t>Author name</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IN" sz="1100">
                          <a:latin typeface="Times New Roman" panose="02020603050405020304" pitchFamily="18" charset="0"/>
                          <a:cs typeface="Times New Roman" panose="02020603050405020304" pitchFamily="18" charset="0"/>
                        </a:rPr>
                        <a:t>Technologies used</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IN" sz="1100">
                          <a:latin typeface="Times New Roman" panose="02020603050405020304" pitchFamily="18" charset="0"/>
                          <a:cs typeface="Times New Roman" panose="02020603050405020304" pitchFamily="18" charset="0"/>
                        </a:rPr>
                        <a:t>Advantages/ Disadvantages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604574">
                <a:tc>
                  <a:txBody>
                    <a:bodyPr/>
                    <a:lstStyle/>
                    <a:p>
                      <a:r>
                        <a:rPr lang="en-US" sz="110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Salary Prediction using Data Mining Techniques (2023)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100" dirty="0">
                          <a:hlinkClick r:id="rId2"/>
                        </a:rPr>
                        <a:t>https://www.academia.edu/145123832/Machine_Learning_Approaches_to_Salary_Prediction_in_Human_Resource_Payroll_Systems</a:t>
                      </a:r>
                      <a:endParaRPr lang="en-IN"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a:t>P. Sharma, K. Verma</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a:t>Random Forest, Data Mining Algorithms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b="1"/>
                        <a:t>Advantage:</a:t>
                      </a:r>
                      <a:r>
                        <a:rPr lang="en-US" sz="1100"/>
                        <a:t> Handles large datasets effectively. </a:t>
                      </a:r>
                      <a:r>
                        <a:rPr lang="en-US" sz="1100" b="1"/>
                        <a:t>Disadvantage:</a:t>
                      </a:r>
                      <a:r>
                        <a:rPr lang="en-US" sz="1100"/>
                        <a:t> Model complexity increases computation time.</a:t>
                      </a:r>
                      <a:endParaRPr lang="en-US"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4725831"/>
                  </a:ext>
                </a:extLst>
              </a:tr>
              <a:tr h="1299562">
                <a:tc>
                  <a:txBody>
                    <a:bodyPr/>
                    <a:lstStyle/>
                    <a:p>
                      <a:r>
                        <a:rPr lang="en-IN" sz="1100">
                          <a:latin typeface="Times New Roman" panose="02020603050405020304" pitchFamily="18" charset="0"/>
                          <a:cs typeface="Times New Roman" panose="02020603050405020304" pitchFamily="18" charset="0"/>
                        </a:rPr>
                        <a:t>5</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HR Analytics: Predicting Salaries using Machine Learning (2021)</a:t>
                      </a:r>
                      <a:r>
                        <a:rPr lang="en-US" sz="1100" b="0" kern="1200" dirty="0">
                          <a:solidFill>
                            <a:schemeClr val="dk1"/>
                          </a:solidFill>
                          <a:effectLst/>
                          <a:latin typeface="+mn-lt"/>
                          <a:ea typeface="+mn-ea"/>
                          <a:cs typeface="+mn-cs"/>
                        </a:rPr>
                        <a:t>.</a:t>
                      </a:r>
                      <a:endParaRPr lang="en-IN" sz="11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IN" sz="1100" dirty="0">
                          <a:hlinkClick r:id="rId3"/>
                        </a:rPr>
                        <a:t>https://ijsrem.com/download/salary-prediction-system-using-machine-learning/</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t>R. Gupta, S. Mehta</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t>Neural Networks, Regression Models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b="1" dirty="0"/>
                        <a:t>Advantage:</a:t>
                      </a:r>
                      <a:r>
                        <a:rPr lang="en-US" sz="1100" dirty="0"/>
                        <a:t> Identifies hidden salary influencing factors. </a:t>
                      </a:r>
                      <a:r>
                        <a:rPr lang="en-US" sz="1100" b="1" dirty="0"/>
                        <a:t>Disadvantage:</a:t>
                      </a:r>
                      <a:r>
                        <a:rPr lang="en-US" sz="1100" dirty="0"/>
                        <a:t> Neural networks require large training datasets.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702398"/>
                  </a:ext>
                </a:extLst>
              </a:tr>
              <a:tr h="1768256">
                <a:tc>
                  <a:txBody>
                    <a:bodyPr/>
                    <a:lstStyle/>
                    <a:p>
                      <a:r>
                        <a:rPr lang="en-IN" sz="1100">
                          <a:latin typeface="Times New Roman" panose="02020603050405020304" pitchFamily="18" charset="0"/>
                          <a:cs typeface="Times New Roman" panose="02020603050405020304" pitchFamily="18" charset="0"/>
                        </a:rPr>
                        <a:t>6</a:t>
                      </a:r>
                      <a:endParaRPr lang="en-IN" sz="1100" dirty="0">
                        <a:latin typeface="Times New Roman" panose="02020603050405020304" pitchFamily="18" charset="0"/>
                        <a:cs typeface="Times New Roman" panose="02020603050405020304" pitchFamily="18" charset="0"/>
                      </a:endParaRPr>
                    </a:p>
                  </a:txBody>
                  <a:tcPr/>
                </a:tc>
                <a:tc>
                  <a:txBody>
                    <a:bodyPr/>
                    <a:lstStyle/>
                    <a:p>
                      <a:pPr>
                        <a:buNone/>
                      </a:pPr>
                      <a:r>
                        <a:rPr lang="en-US" sz="1100" dirty="0"/>
                        <a:t>Machine Learning Approach for Employee Salary Prediction (2022)</a:t>
                      </a:r>
                    </a:p>
                    <a:p>
                      <a:pPr>
                        <a:buNone/>
                      </a:pPr>
                      <a:endParaRPr lang="en-US" sz="1100" dirty="0"/>
                    </a:p>
                    <a:p>
                      <a:pPr>
                        <a:buNone/>
                      </a:pPr>
                      <a:endParaRPr lang="en-US" sz="1100" dirty="0"/>
                    </a:p>
                    <a:p>
                      <a:pPr>
                        <a:buNone/>
                      </a:pPr>
                      <a:endParaRPr lang="en-US" sz="1100" dirty="0"/>
                    </a:p>
                    <a:p>
                      <a:pPr>
                        <a:buNone/>
                      </a:pPr>
                      <a:r>
                        <a:rPr lang="en-IN" sz="1100" dirty="0">
                          <a:hlinkClick r:id="rId4"/>
                        </a:rPr>
                        <a:t>https://www.scribd.com/document/969330650/Employee-Salary-Prediction</a:t>
                      </a:r>
                      <a:endParaRPr lang="en-IN" sz="1100" dirty="0"/>
                    </a:p>
                    <a:p>
                      <a:pPr>
                        <a:buNone/>
                      </a:pPr>
                      <a:endParaRPr lang="en-US" sz="1100" dirty="0"/>
                    </a:p>
                  </a:txBody>
                  <a:tcPr anchor="ctr"/>
                </a:tc>
                <a:tc>
                  <a:txBody>
                    <a:bodyPr/>
                    <a:lstStyle/>
                    <a:p>
                      <a:r>
                        <a:rPr lang="en-IN" sz="1100" dirty="0"/>
                        <a:t>D. Lee, M. Chen</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Support Vector Machine, Decision Trees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b="1" dirty="0"/>
                        <a:t>Advantage:</a:t>
                      </a:r>
                      <a:r>
                        <a:rPr lang="en-US" sz="1100" dirty="0"/>
                        <a:t> High prediction accuracy with structured datasets. </a:t>
                      </a:r>
                      <a:r>
                        <a:rPr lang="en-US" sz="1100" b="1" dirty="0"/>
                        <a:t>Disadvantage:</a:t>
                      </a:r>
                      <a:r>
                        <a:rPr lang="en-US" sz="1100" dirty="0"/>
                        <a:t> Performance decreases when features are missing.</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889593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System Architecture</a:t>
            </a:r>
            <a:endParaRPr lang="en-IN" dirty="0"/>
          </a:p>
        </p:txBody>
      </p:sp>
      <p:sp>
        <p:nvSpPr>
          <p:cNvPr id="5" name="TextBox 4">
            <a:extLst>
              <a:ext uri="{FF2B5EF4-FFF2-40B4-BE49-F238E27FC236}">
                <a16:creationId xmlns:a16="http://schemas.microsoft.com/office/drawing/2014/main" id="{9055C126-5FBD-A73C-4C78-529EEA382E85}"/>
              </a:ext>
            </a:extLst>
          </p:cNvPr>
          <p:cNvSpPr txBox="1"/>
          <p:nvPr/>
        </p:nvSpPr>
        <p:spPr>
          <a:xfrm flipH="1">
            <a:off x="914706" y="1621549"/>
            <a:ext cx="10382249" cy="738664"/>
          </a:xfrm>
          <a:prstGeom prst="rect">
            <a:avLst/>
          </a:prstGeom>
          <a:noFill/>
        </p:spPr>
        <p:txBody>
          <a:bodyPr wrap="square" rtlCol="0">
            <a:spAutoFit/>
          </a:bodyPr>
          <a:lstStyle/>
          <a:p>
            <a:r>
              <a:rPr lang="en-US" sz="1400" dirty="0">
                <a:solidFill>
                  <a:schemeClr val="bg1"/>
                </a:solidFill>
              </a:rPr>
              <a:t>The system architecture of the </a:t>
            </a:r>
            <a:r>
              <a:rPr lang="en-US" sz="1400" b="1" dirty="0">
                <a:solidFill>
                  <a:schemeClr val="bg1"/>
                </a:solidFill>
              </a:rPr>
              <a:t>Employee Salary Prediction System</a:t>
            </a:r>
            <a:r>
              <a:rPr lang="en-US" sz="1400" dirty="0">
                <a:solidFill>
                  <a:schemeClr val="bg1"/>
                </a:solidFill>
              </a:rPr>
              <a:t> describes how different components interact to predict salaries using machine learning. The system collects user input through a web interface, sends the data to the backend API, processes it using a trained machine learning model, and returns the predicted salary with analytics visualization.</a:t>
            </a:r>
            <a:endParaRPr lang="en-IN" sz="1400" dirty="0">
              <a:solidFill>
                <a:schemeClr val="bg1"/>
              </a:solidFill>
            </a:endParaRPr>
          </a:p>
        </p:txBody>
      </p:sp>
      <p:pic>
        <p:nvPicPr>
          <p:cNvPr id="7" name="Picture 6">
            <a:extLst>
              <a:ext uri="{FF2B5EF4-FFF2-40B4-BE49-F238E27FC236}">
                <a16:creationId xmlns:a16="http://schemas.microsoft.com/office/drawing/2014/main" id="{46A966BA-37B7-E132-A42D-108368F9577A}"/>
              </a:ext>
            </a:extLst>
          </p:cNvPr>
          <p:cNvPicPr>
            <a:picLocks noChangeAspect="1"/>
          </p:cNvPicPr>
          <p:nvPr/>
        </p:nvPicPr>
        <p:blipFill>
          <a:blip r:embed="rId2"/>
          <a:stretch>
            <a:fillRect/>
          </a:stretch>
        </p:blipFill>
        <p:spPr>
          <a:xfrm>
            <a:off x="286871" y="2360213"/>
            <a:ext cx="6382869" cy="4124563"/>
          </a:xfrm>
          <a:prstGeom prst="rect">
            <a:avLst/>
          </a:prstGeom>
        </p:spPr>
      </p:pic>
      <p:pic>
        <p:nvPicPr>
          <p:cNvPr id="4" name="Picture 3">
            <a:extLst>
              <a:ext uri="{FF2B5EF4-FFF2-40B4-BE49-F238E27FC236}">
                <a16:creationId xmlns:a16="http://schemas.microsoft.com/office/drawing/2014/main" id="{FF69509F-1459-554C-4980-D6FBB4431578}"/>
              </a:ext>
            </a:extLst>
          </p:cNvPr>
          <p:cNvPicPr>
            <a:picLocks noChangeAspect="1"/>
          </p:cNvPicPr>
          <p:nvPr/>
        </p:nvPicPr>
        <p:blipFill>
          <a:blip r:embed="rId3"/>
          <a:stretch>
            <a:fillRect/>
          </a:stretch>
        </p:blipFill>
        <p:spPr>
          <a:xfrm>
            <a:off x="6795247" y="2435506"/>
            <a:ext cx="5109882" cy="4124563"/>
          </a:xfrm>
          <a:prstGeom prst="rect">
            <a:avLst/>
          </a:prstGeom>
        </p:spPr>
      </p:pic>
    </p:spTree>
    <p:extLst>
      <p:ext uri="{BB962C8B-B14F-4D97-AF65-F5344CB8AC3E}">
        <p14:creationId xmlns:p14="http://schemas.microsoft.com/office/powerpoint/2010/main" val="1667733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12A1-D91A-9567-F858-18F8FD227B5A}"/>
              </a:ext>
            </a:extLst>
          </p:cNvPr>
          <p:cNvSpPr>
            <a:spLocks noGrp="1"/>
          </p:cNvSpPr>
          <p:nvPr>
            <p:ph type="ctrTitle"/>
          </p:nvPr>
        </p:nvSpPr>
        <p:spPr>
          <a:xfrm>
            <a:off x="1600200" y="380144"/>
            <a:ext cx="8991600" cy="999923"/>
          </a:xfrm>
        </p:spPr>
        <p:txBody>
          <a:bodyPr/>
          <a:lstStyle/>
          <a:p>
            <a:r>
              <a:rPr lang="en-IN" dirty="0" err="1"/>
              <a:t>Uml</a:t>
            </a:r>
            <a:r>
              <a:rPr lang="en-IN" dirty="0"/>
              <a:t> diagram</a:t>
            </a:r>
          </a:p>
        </p:txBody>
      </p:sp>
      <p:sp>
        <p:nvSpPr>
          <p:cNvPr id="4" name="AutoShape 2">
            <a:extLst>
              <a:ext uri="{FF2B5EF4-FFF2-40B4-BE49-F238E27FC236}">
                <a16:creationId xmlns:a16="http://schemas.microsoft.com/office/drawing/2014/main" id="{BE593EF0-4FF8-BE13-38C7-22F1DE33F852}"/>
              </a:ext>
            </a:extLst>
          </p:cNvPr>
          <p:cNvSpPr>
            <a:spLocks noGrp="1" noChangeAspect="1" noChangeArrowheads="1"/>
          </p:cNvSpPr>
          <p:nvPr>
            <p:ph type="subTitle" idx="1"/>
          </p:nvPr>
        </p:nvSpPr>
        <p:spPr bwMode="auto">
          <a:xfrm>
            <a:off x="1600200" y="2108200"/>
            <a:ext cx="8991600" cy="34845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10" name="Picture 9">
            <a:extLst>
              <a:ext uri="{FF2B5EF4-FFF2-40B4-BE49-F238E27FC236}">
                <a16:creationId xmlns:a16="http://schemas.microsoft.com/office/drawing/2014/main" id="{709EDA3D-CE6D-F7A0-6ACA-724ED2CF432A}"/>
              </a:ext>
            </a:extLst>
          </p:cNvPr>
          <p:cNvPicPr>
            <a:picLocks noChangeAspect="1"/>
          </p:cNvPicPr>
          <p:nvPr/>
        </p:nvPicPr>
        <p:blipFill>
          <a:blip r:embed="rId2"/>
          <a:stretch>
            <a:fillRect/>
          </a:stretch>
        </p:blipFill>
        <p:spPr>
          <a:xfrm>
            <a:off x="1219200" y="1744824"/>
            <a:ext cx="9753600" cy="4555963"/>
          </a:xfrm>
          <a:prstGeom prst="rect">
            <a:avLst/>
          </a:prstGeom>
        </p:spPr>
      </p:pic>
    </p:spTree>
    <p:extLst>
      <p:ext uri="{BB962C8B-B14F-4D97-AF65-F5344CB8AC3E}">
        <p14:creationId xmlns:p14="http://schemas.microsoft.com/office/powerpoint/2010/main" val="1445065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9666-4762-8632-DE15-1C167596B785}"/>
              </a:ext>
            </a:extLst>
          </p:cNvPr>
          <p:cNvSpPr>
            <a:spLocks noGrp="1"/>
          </p:cNvSpPr>
          <p:nvPr>
            <p:ph type="ctrTitle"/>
          </p:nvPr>
        </p:nvSpPr>
        <p:spPr>
          <a:xfrm>
            <a:off x="1600200" y="414868"/>
            <a:ext cx="8991600" cy="999066"/>
          </a:xfrm>
        </p:spPr>
        <p:txBody>
          <a:bodyPr/>
          <a:lstStyle/>
          <a:p>
            <a:r>
              <a:rPr lang="en-IN" dirty="0"/>
              <a:t>Activity diagram</a:t>
            </a:r>
          </a:p>
        </p:txBody>
      </p:sp>
      <p:sp>
        <p:nvSpPr>
          <p:cNvPr id="3" name="Subtitle 2">
            <a:extLst>
              <a:ext uri="{FF2B5EF4-FFF2-40B4-BE49-F238E27FC236}">
                <a16:creationId xmlns:a16="http://schemas.microsoft.com/office/drawing/2014/main" id="{1D05DB0B-82D3-C796-2751-3D25312A07F0}"/>
              </a:ext>
            </a:extLst>
          </p:cNvPr>
          <p:cNvSpPr>
            <a:spLocks noGrp="1"/>
          </p:cNvSpPr>
          <p:nvPr>
            <p:ph type="subTitle" idx="1"/>
          </p:nvPr>
        </p:nvSpPr>
        <p:spPr>
          <a:xfrm>
            <a:off x="2695194" y="2015067"/>
            <a:ext cx="6801612" cy="3577371"/>
          </a:xfrm>
        </p:spPr>
        <p:txBody>
          <a:bodyPr/>
          <a:lstStyle/>
          <a:p>
            <a:endParaRPr lang="en-IN" dirty="0"/>
          </a:p>
        </p:txBody>
      </p:sp>
      <p:pic>
        <p:nvPicPr>
          <p:cNvPr id="6" name="Picture 5">
            <a:extLst>
              <a:ext uri="{FF2B5EF4-FFF2-40B4-BE49-F238E27FC236}">
                <a16:creationId xmlns:a16="http://schemas.microsoft.com/office/drawing/2014/main" id="{89F7AD52-08A2-F732-027E-7B486F052EF9}"/>
              </a:ext>
            </a:extLst>
          </p:cNvPr>
          <p:cNvPicPr>
            <a:picLocks noChangeAspect="1"/>
          </p:cNvPicPr>
          <p:nvPr/>
        </p:nvPicPr>
        <p:blipFill>
          <a:blip r:embed="rId2"/>
          <a:stretch>
            <a:fillRect/>
          </a:stretch>
        </p:blipFill>
        <p:spPr>
          <a:xfrm>
            <a:off x="1600201" y="1625601"/>
            <a:ext cx="8991599" cy="5173132"/>
          </a:xfrm>
          <a:prstGeom prst="rect">
            <a:avLst/>
          </a:prstGeom>
        </p:spPr>
      </p:pic>
    </p:spTree>
    <p:extLst>
      <p:ext uri="{BB962C8B-B14F-4D97-AF65-F5344CB8AC3E}">
        <p14:creationId xmlns:p14="http://schemas.microsoft.com/office/powerpoint/2010/main" val="2547450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E257-8A76-FAE5-BE9D-AF1C24333988}"/>
              </a:ext>
            </a:extLst>
          </p:cNvPr>
          <p:cNvSpPr>
            <a:spLocks noGrp="1"/>
          </p:cNvSpPr>
          <p:nvPr>
            <p:ph type="ctrTitle"/>
          </p:nvPr>
        </p:nvSpPr>
        <p:spPr>
          <a:xfrm>
            <a:off x="1600200" y="347134"/>
            <a:ext cx="8991600" cy="1239894"/>
          </a:xfrm>
        </p:spPr>
        <p:txBody>
          <a:bodyPr/>
          <a:lstStyle/>
          <a:p>
            <a:r>
              <a:rPr lang="en-IN" dirty="0"/>
              <a:t>Module design</a:t>
            </a:r>
          </a:p>
        </p:txBody>
      </p:sp>
      <p:sp>
        <p:nvSpPr>
          <p:cNvPr id="3" name="Subtitle 2">
            <a:extLst>
              <a:ext uri="{FF2B5EF4-FFF2-40B4-BE49-F238E27FC236}">
                <a16:creationId xmlns:a16="http://schemas.microsoft.com/office/drawing/2014/main" id="{24F7CD92-4B9D-13AF-4079-A1B121EEB3BF}"/>
              </a:ext>
            </a:extLst>
          </p:cNvPr>
          <p:cNvSpPr>
            <a:spLocks noGrp="1"/>
          </p:cNvSpPr>
          <p:nvPr>
            <p:ph type="subTitle" idx="1"/>
          </p:nvPr>
        </p:nvSpPr>
        <p:spPr/>
        <p:txBody>
          <a:bodyPr/>
          <a:lstStyle/>
          <a:p>
            <a:endParaRPr lang="en-IN" dirty="0"/>
          </a:p>
        </p:txBody>
      </p:sp>
      <p:pic>
        <p:nvPicPr>
          <p:cNvPr id="5" name="Picture 4">
            <a:extLst>
              <a:ext uri="{FF2B5EF4-FFF2-40B4-BE49-F238E27FC236}">
                <a16:creationId xmlns:a16="http://schemas.microsoft.com/office/drawing/2014/main" id="{E608D00E-D0C3-0843-262C-110C8A9C0CF3}"/>
              </a:ext>
            </a:extLst>
          </p:cNvPr>
          <p:cNvPicPr>
            <a:picLocks noChangeAspect="1"/>
          </p:cNvPicPr>
          <p:nvPr/>
        </p:nvPicPr>
        <p:blipFill>
          <a:blip r:embed="rId2"/>
          <a:stretch>
            <a:fillRect/>
          </a:stretch>
        </p:blipFill>
        <p:spPr>
          <a:xfrm>
            <a:off x="1111624" y="1828800"/>
            <a:ext cx="10291481" cy="4682066"/>
          </a:xfrm>
          <a:prstGeom prst="rect">
            <a:avLst/>
          </a:prstGeom>
        </p:spPr>
      </p:pic>
    </p:spTree>
    <p:extLst>
      <p:ext uri="{BB962C8B-B14F-4D97-AF65-F5344CB8AC3E}">
        <p14:creationId xmlns:p14="http://schemas.microsoft.com/office/powerpoint/2010/main" val="2185265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38D9977-3599-9D98-5444-768A6924E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99757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1176</TotalTime>
  <Words>1134</Words>
  <Application>Microsoft Office PowerPoint</Application>
  <PresentationFormat>Widescreen</PresentationFormat>
  <Paragraphs>130</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Gill Sans MT</vt:lpstr>
      <vt:lpstr>Times New Roman</vt:lpstr>
      <vt:lpstr>Wingdings</vt:lpstr>
      <vt:lpstr>Parcel</vt:lpstr>
      <vt:lpstr>Employee salary prediction system</vt:lpstr>
      <vt:lpstr>Table of contents</vt:lpstr>
      <vt:lpstr>Review – 2 comments addressed</vt:lpstr>
      <vt:lpstr>ABSTRACT</vt:lpstr>
      <vt:lpstr>Introduction</vt:lpstr>
      <vt:lpstr>Existing system</vt:lpstr>
      <vt:lpstr>Proposed system</vt:lpstr>
      <vt:lpstr>Objectives</vt:lpstr>
      <vt:lpstr>Software requirements</vt:lpstr>
      <vt:lpstr>Hardware requirements</vt:lpstr>
      <vt:lpstr>FUNCTIONAL  requirements</vt:lpstr>
      <vt:lpstr>Non - functional requirements</vt:lpstr>
      <vt:lpstr>Literature survey</vt:lpstr>
      <vt:lpstr>Thank you</vt:lpstr>
      <vt:lpstr>System Architecture</vt:lpstr>
      <vt:lpstr>Uml diagram</vt:lpstr>
      <vt:lpstr>Activity diagram</vt:lpstr>
      <vt:lpstr>Module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Preserving performance of ml models using MLOps</dc:title>
  <dc:creator>Varshika Dasari</dc:creator>
  <cp:lastModifiedBy>SRUNGARAPU SAI REETHIKA</cp:lastModifiedBy>
  <cp:revision>22</cp:revision>
  <dcterms:created xsi:type="dcterms:W3CDTF">2022-09-15T19:17:00Z</dcterms:created>
  <dcterms:modified xsi:type="dcterms:W3CDTF">2026-03-07T08:30:26Z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3936C35BB73A4955AF09C77BF7191492</vt:lpwstr>
  </property>
  <property fmtid="{D5CDD505-2E9C-101B-9397-08002B2CF9AE}" pid="3" name="KSOProductBuildVer">
    <vt:lpwstr>1033-11.2.0.11306</vt:lpwstr>
  </property>
</Properties>
</file>