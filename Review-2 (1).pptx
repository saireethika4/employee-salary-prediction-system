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4/1/2026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01-04-2026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01-04-2026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09/example1"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doi.org/10.1109/example2"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scikit-learn.org/" TargetMode="External"/><Relationship Id="rId2" Type="http://schemas.openxmlformats.org/officeDocument/2006/relationships/hyperlink" Target="https://www.kaggle.com/"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cs.python.or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2</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Employee salary prediction system</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3"/>
            <a:ext cx="10515572" cy="1526807"/>
          </a:xfrm>
        </p:spPr>
        <p:txBody>
          <a:bodyPr>
            <a:noAutofit/>
          </a:bodyPr>
          <a:lstStyle/>
          <a:p>
            <a:pPr marL="0" indent="0" algn="ctr">
              <a:buNone/>
            </a:pPr>
            <a:r>
              <a:rPr lang="en-IN" sz="2000" b="1" dirty="0"/>
              <a:t>Team No- 3</a:t>
            </a:r>
          </a:p>
          <a:p>
            <a:pPr marL="0" indent="0" algn="ctr">
              <a:buNone/>
            </a:pPr>
            <a:r>
              <a:rPr lang="en-IN" sz="2000" b="1" dirty="0"/>
              <a:t>                   Roll No: 2320030417, 2320030419, 2320030027		  </a:t>
            </a:r>
          </a:p>
          <a:p>
            <a:pPr marL="0" indent="0" algn="ctr">
              <a:buNone/>
            </a:pPr>
            <a:r>
              <a:rPr lang="en-IN" sz="2000" b="1" dirty="0"/>
              <a:t>Name: Sai </a:t>
            </a:r>
            <a:r>
              <a:rPr lang="en-IN" sz="2000" b="1" dirty="0" err="1"/>
              <a:t>Reethika,Jakku</a:t>
            </a:r>
            <a:r>
              <a:rPr lang="en-IN" sz="2000" b="1" dirty="0"/>
              <a:t> </a:t>
            </a:r>
            <a:r>
              <a:rPr lang="en-IN" sz="2000" b="1" dirty="0" err="1"/>
              <a:t>nikitha</a:t>
            </a:r>
            <a:r>
              <a:rPr lang="en-IN" sz="2000" b="1" dirty="0"/>
              <a:t>, </a:t>
            </a:r>
            <a:r>
              <a:rPr lang="en-IN" sz="2000" b="1" dirty="0" err="1"/>
              <a:t>swathi</a:t>
            </a:r>
            <a:endParaRPr lang="en-IN"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01-04-2026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2998942"/>
            <a:ext cx="10515600" cy="1951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50731"/>
            <a:ext cx="10515600" cy="5002923"/>
          </a:xfrm>
        </p:spPr>
        <p:txBody>
          <a:bodyPr>
            <a:normAutofit/>
          </a:bodyPr>
          <a:lstStyle/>
          <a:p>
            <a:r>
              <a:rPr lang="en-US" sz="2000" dirty="0"/>
              <a:t>The </a:t>
            </a:r>
            <a:r>
              <a:rPr lang="en-US" sz="2000" b="1" dirty="0"/>
              <a:t>Employee Salary Prediction System</a:t>
            </a:r>
            <a:r>
              <a:rPr lang="en-US" sz="2000" dirty="0"/>
              <a:t> is an AI-based application that predicts employee salaries using machine learning and data analysis. It considers factors like experience, education, job role, skills, and location to estimate a suitable salary range. Instead of calculating salaries manually, the system analyzes past employee data and learns patterns to make accurate predictions.</a:t>
            </a:r>
          </a:p>
          <a:p>
            <a:r>
              <a:rPr lang="en-US" sz="2000" dirty="0"/>
              <a:t>This system helps organizations make fair and data-driven salary decisions while reducing bias. It also helps job seekers understand the expected salary based on their qualifications and experience, improving transparency and efficiency in salary estimation.</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216309"/>
            <a:ext cx="10173182" cy="1709444"/>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341619" y="163092"/>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3" name="Rectangle 1">
            <a:extLst>
              <a:ext uri="{FF2B5EF4-FFF2-40B4-BE49-F238E27FC236}">
                <a16:creationId xmlns:a16="http://schemas.microsoft.com/office/drawing/2014/main" id="{293C0C94-B03C-0558-B98F-07B8274D36CF}"/>
              </a:ext>
            </a:extLst>
          </p:cNvPr>
          <p:cNvSpPr>
            <a:spLocks noGrp="1" noChangeArrowheads="1"/>
          </p:cNvSpPr>
          <p:nvPr>
            <p:ph idx="1"/>
          </p:nvPr>
        </p:nvSpPr>
        <p:spPr bwMode="auto">
          <a:xfrm>
            <a:off x="353909" y="879439"/>
            <a:ext cx="1104661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 an AI-based salary prediction model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Build a machine learning model that predicts employee salaries using factors such as experience,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education, skills, and job role.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Analyze employee data to identify salary patterns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 historical data to understand how different attributes influence employee salaries.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 accuracy in salary estimation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Apply data analysis and machine learning algorithms to provide reliable and data-driven salary predictions.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Reduce bias in salary decision-making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Support organizations in making fair and consistent compensation decisions using AI-based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Assist job seekers and HR professionals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Provide estimated salary ranges to help job seekers understand market expectations and help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HR teams in recruitment planning.</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Create a user-friendly prediction system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Design a simple interface where users can input details and receive predicted salary results quickly.</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Employee salary prediction system</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1255011318"/>
              </p:ext>
            </p:extLst>
          </p:nvPr>
        </p:nvGraphicFramePr>
        <p:xfrm>
          <a:off x="838200" y="1779103"/>
          <a:ext cx="10515600" cy="4729762"/>
        </p:xfrm>
        <a:graphic>
          <a:graphicData uri="http://schemas.openxmlformats.org/drawingml/2006/table">
            <a:tbl>
              <a:tblPr/>
              <a:tblGrid>
                <a:gridCol w="430130">
                  <a:extLst>
                    <a:ext uri="{9D8B030D-6E8A-4147-A177-3AD203B41FA5}">
                      <a16:colId xmlns:a16="http://schemas.microsoft.com/office/drawing/2014/main" val="2320967467"/>
                    </a:ext>
                  </a:extLst>
                </a:gridCol>
                <a:gridCol w="665262">
                  <a:extLst>
                    <a:ext uri="{9D8B030D-6E8A-4147-A177-3AD203B41FA5}">
                      <a16:colId xmlns:a16="http://schemas.microsoft.com/office/drawing/2014/main" val="1773147566"/>
                    </a:ext>
                  </a:extLst>
                </a:gridCol>
                <a:gridCol w="1019188">
                  <a:extLst>
                    <a:ext uri="{9D8B030D-6E8A-4147-A177-3AD203B41FA5}">
                      <a16:colId xmlns:a16="http://schemas.microsoft.com/office/drawing/2014/main" val="3614679244"/>
                    </a:ext>
                  </a:extLst>
                </a:gridCol>
                <a:gridCol w="917269">
                  <a:extLst>
                    <a:ext uri="{9D8B030D-6E8A-4147-A177-3AD203B41FA5}">
                      <a16:colId xmlns:a16="http://schemas.microsoft.com/office/drawing/2014/main" val="1867444956"/>
                    </a:ext>
                  </a:extLst>
                </a:gridCol>
                <a:gridCol w="567834">
                  <a:extLst>
                    <a:ext uri="{9D8B030D-6E8A-4147-A177-3AD203B41FA5}">
                      <a16:colId xmlns:a16="http://schemas.microsoft.com/office/drawing/2014/main" val="2466615718"/>
                    </a:ext>
                  </a:extLst>
                </a:gridCol>
                <a:gridCol w="684311">
                  <a:extLst>
                    <a:ext uri="{9D8B030D-6E8A-4147-A177-3AD203B41FA5}">
                      <a16:colId xmlns:a16="http://schemas.microsoft.com/office/drawing/2014/main" val="3131005202"/>
                    </a:ext>
                  </a:extLst>
                </a:gridCol>
                <a:gridCol w="829613">
                  <a:extLst>
                    <a:ext uri="{9D8B030D-6E8A-4147-A177-3AD203B41FA5}">
                      <a16:colId xmlns:a16="http://schemas.microsoft.com/office/drawing/2014/main" val="2820496137"/>
                    </a:ext>
                  </a:extLst>
                </a:gridCol>
                <a:gridCol w="757408">
                  <a:extLst>
                    <a:ext uri="{9D8B030D-6E8A-4147-A177-3AD203B41FA5}">
                      <a16:colId xmlns:a16="http://schemas.microsoft.com/office/drawing/2014/main" val="3963344226"/>
                    </a:ext>
                  </a:extLst>
                </a:gridCol>
                <a:gridCol w="1019188">
                  <a:extLst>
                    <a:ext uri="{9D8B030D-6E8A-4147-A177-3AD203B41FA5}">
                      <a16:colId xmlns:a16="http://schemas.microsoft.com/office/drawing/2014/main" val="824182350"/>
                    </a:ext>
                  </a:extLst>
                </a:gridCol>
                <a:gridCol w="1208466">
                  <a:extLst>
                    <a:ext uri="{9D8B030D-6E8A-4147-A177-3AD203B41FA5}">
                      <a16:colId xmlns:a16="http://schemas.microsoft.com/office/drawing/2014/main" val="523834847"/>
                    </a:ext>
                  </a:extLst>
                </a:gridCol>
                <a:gridCol w="1164786">
                  <a:extLst>
                    <a:ext uri="{9D8B030D-6E8A-4147-A177-3AD203B41FA5}">
                      <a16:colId xmlns:a16="http://schemas.microsoft.com/office/drawing/2014/main" val="1021730221"/>
                    </a:ext>
                  </a:extLst>
                </a:gridCol>
                <a:gridCol w="1252145">
                  <a:extLst>
                    <a:ext uri="{9D8B030D-6E8A-4147-A177-3AD203B41FA5}">
                      <a16:colId xmlns:a16="http://schemas.microsoft.com/office/drawing/2014/main" val="44805945"/>
                    </a:ext>
                  </a:extLst>
                </a:gridCol>
              </a:tblGrid>
              <a:tr h="1675068">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dirty="0">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2902179">
                <a:tc>
                  <a:txBody>
                    <a:bodyPr/>
                    <a:lstStyle/>
                    <a:p>
                      <a:pPr algn="r" fontAlgn="ctr">
                        <a:buNone/>
                      </a:pPr>
                      <a:r>
                        <a:rPr lang="en-IN" sz="1000" b="1" i="0" u="none" strike="noStrike" dirty="0">
                          <a:solidFill>
                            <a:srgbClr val="000000"/>
                          </a:solidFill>
                          <a:effectLst/>
                          <a:latin typeface="Calibri" panose="020F0502020204030204" pitchFamily="34" charset="0"/>
                        </a:rPr>
                        <a:t>1</a:t>
                      </a: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endParaRPr lang="en-IN" sz="1000" b="1" i="0" u="none" strike="noStrike" dirty="0">
                        <a:solidFill>
                          <a:srgbClr val="000000"/>
                        </a:solidFill>
                        <a:effectLst/>
                        <a:latin typeface="Calibri" panose="020F0502020204030204" pitchFamily="34" charset="0"/>
                      </a:endParaRPr>
                    </a:p>
                    <a:p>
                      <a:pPr algn="r" fontAlgn="ctr">
                        <a:buNone/>
                      </a:pPr>
                      <a:r>
                        <a:rPr lang="en-IN" sz="1000" b="1" i="0" u="none" strike="noStrike" dirty="0">
                          <a:solidFill>
                            <a:srgbClr val="000000"/>
                          </a:solidFill>
                          <a:effectLst/>
                          <a:latin typeface="Calibri" panose="020F0502020204030204" pitchFamily="34" charset="0"/>
                        </a:rPr>
                        <a:t>2</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1000" dirty="0"/>
                        <a:t>2021</a:t>
                      </a: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endParaRPr lang="en-IN" sz="1000" b="0" i="0" u="none" strike="noStrike" dirty="0">
                        <a:solidFill>
                          <a:srgbClr val="000000"/>
                        </a:solidFill>
                        <a:effectLst/>
                        <a:latin typeface="Times New Roman" panose="02020603050405020304" pitchFamily="18" charset="0"/>
                      </a:endParaRPr>
                    </a:p>
                    <a:p>
                      <a:pPr algn="r" fontAlgn="ctr">
                        <a:buNone/>
                      </a:pPr>
                      <a:r>
                        <a:rPr lang="en-IN" sz="1000" dirty="0"/>
                        <a:t>2022</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S. Kumar, R. Sharma</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A. Patel, M. Singh</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Employee Salary Prediction using Machine Learning</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IN" sz="1000" dirty="0"/>
                        <a:t>AI-Based Salary Prediction System</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IEEE Conference</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International Journal of Computer Applications</a:t>
                      </a:r>
                    </a:p>
                    <a:p>
                      <a:pPr algn="l" fontAlgn="ctr">
                        <a:buNone/>
                      </a:pP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To predict employee salary based on experience and education using ML models</a:t>
                      </a:r>
                    </a:p>
                    <a:p>
                      <a:pPr algn="l" fontAlgn="ctr">
                        <a:buNone/>
                      </a:pPr>
                      <a:endParaRPr lang="en-US" sz="1000" dirty="0"/>
                    </a:p>
                    <a:p>
                      <a:pPr algn="l" fontAlgn="ctr">
                        <a:buNone/>
                      </a:pPr>
                      <a:endParaRPr lang="en-US" sz="1000" dirty="0"/>
                    </a:p>
                    <a:p>
                      <a:pPr algn="l" fontAlgn="ctr">
                        <a:buNone/>
                      </a:pPr>
                      <a:r>
                        <a:rPr lang="en-US" sz="1000" dirty="0"/>
                        <a:t>To build ai</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Linear Regression, Random Forest</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US" sz="1000" dirty="0"/>
                        <a:t>Decision Tree, Support Vector Machine</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Kaggle Salary Dataset</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Glassdoor Dataset</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dirty="0"/>
                        <a:t>Experience, Education, Job Role</a:t>
                      </a: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endParaRPr lang="en-IN" sz="1000" b="0" i="0" u="none" strike="noStrike" dirty="0">
                        <a:solidFill>
                          <a:srgbClr val="000000"/>
                        </a:solidFill>
                        <a:effectLst/>
                        <a:latin typeface="Times New Roman" panose="02020603050405020304" pitchFamily="18" charset="0"/>
                      </a:endParaRPr>
                    </a:p>
                    <a:p>
                      <a:pPr algn="l" fontAlgn="ctr">
                        <a:buNone/>
                      </a:pPr>
                      <a:r>
                        <a:rPr lang="en-IN" sz="1000" dirty="0"/>
                        <a:t>Experience, Skills, Location</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ML models can predict salaries with good accuracy</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IN" sz="1000" dirty="0"/>
                        <a:t>AI models improve salary estimation accuracy</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dirty="0"/>
                        <a:t>Does not consider skills, company size, and location</a:t>
                      </a: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r>
                        <a:rPr lang="en-US" sz="1000" dirty="0"/>
                        <a:t>Limited dataset and fewer features used</a:t>
                      </a: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p>
                      <a:pPr algn="l" fontAlgn="ctr">
                        <a:buNone/>
                      </a:pP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dirty="0">
                          <a:hlinkClick r:id="rId3"/>
                        </a:rPr>
                        <a:t>https://doi.org/10.1109/example1</a:t>
                      </a:r>
                      <a:endParaRPr lang="en-IN" sz="1000" dirty="0"/>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r>
                        <a:rPr lang="en-IN" sz="1000" dirty="0">
                          <a:hlinkClick r:id="rId4"/>
                        </a:rPr>
                        <a:t>https://doi.org/10.1109/example2</a:t>
                      </a:r>
                      <a:endParaRPr lang="en-IN" sz="1000" dirty="0"/>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p>
                      <a:pPr algn="l" fontAlgn="b">
                        <a:buNone/>
                      </a:pP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3610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sz="half" idx="1"/>
          </p:nvPr>
        </p:nvSpPr>
        <p:spPr>
          <a:xfrm>
            <a:off x="549965" y="1690688"/>
            <a:ext cx="4111487" cy="4147792"/>
          </a:xfrm>
        </p:spPr>
        <p:txBody>
          <a:bodyPr>
            <a:normAutofit fontScale="70000" lnSpcReduction="20000"/>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Block diagram:</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Data Collection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Data Preprocessing</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(Cleaning, Handling Missing Values)</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Feature Selection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(Experience, Education, Skills, Job Role, Location)</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Model Training</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(Machine Learning Algorithms)</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Model Evaluation</a:t>
            </a:r>
          </a:p>
          <a:p>
            <a:pPr marL="0" indent="0" eaLnBrk="0" fontAlgn="base" hangingPunct="0">
              <a:lnSpc>
                <a:spcPct val="100000"/>
              </a:lnSpc>
              <a:spcBef>
                <a:spcPct val="0"/>
              </a:spcBef>
              <a:spcAft>
                <a:spcPct val="0"/>
              </a:spcAft>
              <a:buNone/>
            </a:pPr>
            <a:endParaRPr lang="en-US" altLang="en-US" sz="23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(Accuracy, MAE, RMSE)</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300" dirty="0">
                <a:latin typeface="Times New Roman" panose="02020603050405020304" pitchFamily="18" charset="0"/>
                <a:cs typeface="Times New Roman" panose="02020603050405020304" pitchFamily="18" charset="0"/>
              </a:rPr>
              <a:t>Salary Prediction Output</a:t>
            </a:r>
          </a:p>
        </p:txBody>
      </p:sp>
      <p:sp>
        <p:nvSpPr>
          <p:cNvPr id="3" name="Content Placeholder 2">
            <a:extLst>
              <a:ext uri="{FF2B5EF4-FFF2-40B4-BE49-F238E27FC236}">
                <a16:creationId xmlns:a16="http://schemas.microsoft.com/office/drawing/2014/main" id="{6CD62E3C-F1B6-497B-BD30-596BACE034BE}"/>
              </a:ext>
            </a:extLst>
          </p:cNvPr>
          <p:cNvSpPr>
            <a:spLocks noGrp="1"/>
          </p:cNvSpPr>
          <p:nvPr>
            <p:ph sz="half" idx="2"/>
          </p:nvPr>
        </p:nvSpPr>
        <p:spPr>
          <a:xfrm>
            <a:off x="4949687" y="1500809"/>
            <a:ext cx="6404113" cy="4676154"/>
          </a:xfrm>
        </p:spPr>
        <p:txBody>
          <a:bodyPr>
            <a:normAutofit fontScale="70000" lnSpcReduction="20000"/>
          </a:bodyPr>
          <a:lstStyle/>
          <a:p>
            <a:r>
              <a:rPr lang="en-US" b="1" dirty="0"/>
              <a:t>2. Model / Algorithm Idea</a:t>
            </a:r>
          </a:p>
          <a:p>
            <a:pPr marL="0" indent="0" algn="just">
              <a:buNone/>
            </a:pPr>
            <a:r>
              <a:rPr lang="en-US" sz="2300" dirty="0">
                <a:latin typeface="Times New Roman" panose="02020603050405020304" pitchFamily="18" charset="0"/>
                <a:cs typeface="Times New Roman" panose="02020603050405020304" pitchFamily="18" charset="0"/>
              </a:rPr>
              <a:t> The proposed system uses ml algorithms to predict employee salaries based on factors like experience, education, skills, job role, and location. The dataset is first collected and preprocessed to remove errors or missing values. Algorithms such as </a:t>
            </a:r>
            <a:r>
              <a:rPr lang="en-US" sz="2300" b="1" dirty="0">
                <a:latin typeface="Times New Roman" panose="02020603050405020304" pitchFamily="18" charset="0"/>
                <a:cs typeface="Times New Roman" panose="02020603050405020304" pitchFamily="18" charset="0"/>
              </a:rPr>
              <a:t>linear Regression, Decision Tree, and Random Forest</a:t>
            </a:r>
            <a:r>
              <a:rPr lang="en-US" sz="2300" dirty="0">
                <a:latin typeface="Times New Roman" panose="02020603050405020304" pitchFamily="18" charset="0"/>
                <a:cs typeface="Times New Roman" panose="02020603050405020304" pitchFamily="18" charset="0"/>
              </a:rPr>
              <a:t> are trained on historical data to learn patterns and predict salary for new employee inputs.</a:t>
            </a:r>
          </a:p>
          <a:p>
            <a:r>
              <a:rPr lang="en-US" b="1" dirty="0"/>
              <a:t>3. Expected Workflow </a:t>
            </a:r>
          </a:p>
          <a:p>
            <a:r>
              <a:rPr lang="en-US" sz="2300" dirty="0">
                <a:latin typeface="Times New Roman" panose="02020603050405020304" pitchFamily="18" charset="0"/>
                <a:cs typeface="Times New Roman" panose="02020603050405020304" pitchFamily="18" charset="0"/>
              </a:rPr>
              <a:t>Collect the employee salary dataset.</a:t>
            </a:r>
          </a:p>
          <a:p>
            <a:r>
              <a:rPr lang="en-US" sz="2300" dirty="0">
                <a:latin typeface="Times New Roman" panose="02020603050405020304" pitchFamily="18" charset="0"/>
                <a:cs typeface="Times New Roman" panose="02020603050405020304" pitchFamily="18" charset="0"/>
              </a:rPr>
              <a:t>Clean and preprocess the data.</a:t>
            </a:r>
          </a:p>
          <a:p>
            <a:r>
              <a:rPr lang="en-US" sz="2300" dirty="0">
                <a:latin typeface="Times New Roman" panose="02020603050405020304" pitchFamily="18" charset="0"/>
                <a:cs typeface="Times New Roman" panose="02020603050405020304" pitchFamily="18" charset="0"/>
              </a:rPr>
              <a:t>Select important features affecting salary.</a:t>
            </a:r>
          </a:p>
          <a:p>
            <a:r>
              <a:rPr lang="en-US" sz="2300" dirty="0">
                <a:latin typeface="Times New Roman" panose="02020603050405020304" pitchFamily="18" charset="0"/>
                <a:cs typeface="Times New Roman" panose="02020603050405020304" pitchFamily="18" charset="0"/>
              </a:rPr>
              <a:t>Split the data into training and testing sets.</a:t>
            </a:r>
          </a:p>
          <a:p>
            <a:r>
              <a:rPr lang="en-US" sz="2300" dirty="0">
                <a:latin typeface="Times New Roman" panose="02020603050405020304" pitchFamily="18" charset="0"/>
                <a:cs typeface="Times New Roman" panose="02020603050405020304" pitchFamily="18" charset="0"/>
              </a:rPr>
              <a:t>Train machine learning models.</a:t>
            </a:r>
          </a:p>
          <a:p>
            <a:r>
              <a:rPr lang="en-US" sz="2300" dirty="0">
                <a:latin typeface="Times New Roman" panose="02020603050405020304" pitchFamily="18" charset="0"/>
                <a:cs typeface="Times New Roman" panose="02020603050405020304" pitchFamily="18" charset="0"/>
              </a:rPr>
              <a:t>Evaluate model performance.</a:t>
            </a:r>
          </a:p>
          <a:p>
            <a:r>
              <a:rPr lang="en-US" sz="2300" dirty="0">
                <a:latin typeface="Times New Roman" panose="02020603050405020304" pitchFamily="18" charset="0"/>
                <a:cs typeface="Times New Roman" panose="02020603050405020304" pitchFamily="18" charset="0"/>
              </a:rPr>
              <a:t>Predict salary based on user input.</a:t>
            </a:r>
          </a:p>
          <a:p>
            <a:endParaRPr lang="en-IN" dirty="0"/>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p:txBody>
          <a:bodyPr/>
          <a:lstStyle/>
          <a:p>
            <a:r>
              <a:rPr lang="en-US" dirty="0"/>
              <a:t>REVIEW – 2    </a:t>
            </a:r>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838200" y="-864703"/>
            <a:ext cx="10515600" cy="2440235"/>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sz="half" idx="1"/>
          </p:nvPr>
        </p:nvSpPr>
        <p:spPr>
          <a:xfrm>
            <a:off x="228600" y="1043609"/>
            <a:ext cx="5019261" cy="5436703"/>
          </a:xfrm>
        </p:spPr>
        <p:txBody>
          <a:bodyPr>
            <a:normAutofit fontScale="55000" lnSpcReduction="20000"/>
          </a:bodyPr>
          <a:lstStyle/>
          <a:p>
            <a:pPr marL="0" indent="0" eaLnBrk="0" fontAlgn="base" hangingPunct="0">
              <a:lnSpc>
                <a:spcPct val="100000"/>
              </a:lnSpc>
              <a:spcBef>
                <a:spcPct val="0"/>
              </a:spcBef>
              <a:spcAft>
                <a:spcPct val="0"/>
              </a:spcAft>
              <a:buNone/>
            </a:pPr>
            <a:r>
              <a:rPr lang="en-US" sz="2000" dirty="0"/>
              <a:t>Backend (AI Engine &amp; API):</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err="1"/>
              <a:t>FastAPI</a:t>
            </a:r>
            <a:r>
              <a:rPr lang="en-US" sz="2000" dirty="0"/>
              <a:t>: Replaced </a:t>
            </a:r>
            <a:r>
              <a:rPr lang="en-US" sz="2000" dirty="0" err="1"/>
              <a:t>Streamlit</a:t>
            </a:r>
            <a:r>
              <a:rPr lang="en-US" sz="2000" dirty="0"/>
              <a:t> to act as a high-performance REST API handling the Machine Learning predictions and analytics data.</a:t>
            </a:r>
          </a:p>
          <a:p>
            <a:pPr marL="0" indent="0" eaLnBrk="0" fontAlgn="base" hangingPunct="0">
              <a:lnSpc>
                <a:spcPct val="100000"/>
              </a:lnSpc>
              <a:spcBef>
                <a:spcPct val="0"/>
              </a:spcBef>
              <a:spcAft>
                <a:spcPct val="0"/>
              </a:spcAft>
              <a:buNone/>
            </a:pPr>
            <a:r>
              <a:rPr lang="en-US" sz="2000" dirty="0" err="1"/>
              <a:t>Uvicorn</a:t>
            </a:r>
            <a:r>
              <a:rPr lang="en-US" sz="2000" dirty="0"/>
              <a:t>: The ASGI web server used to run the </a:t>
            </a:r>
            <a:r>
              <a:rPr lang="en-US" sz="2000" dirty="0" err="1"/>
              <a:t>FastAPI</a:t>
            </a:r>
            <a:r>
              <a:rPr lang="en-US" sz="2000" dirty="0"/>
              <a:t> application.</a:t>
            </a:r>
          </a:p>
          <a:p>
            <a:pPr marL="0" indent="0" eaLnBrk="0" fontAlgn="base" hangingPunct="0">
              <a:lnSpc>
                <a:spcPct val="100000"/>
              </a:lnSpc>
              <a:spcBef>
                <a:spcPct val="0"/>
              </a:spcBef>
              <a:spcAft>
                <a:spcPct val="0"/>
              </a:spcAft>
              <a:buNone/>
            </a:pPr>
            <a:r>
              <a:rPr lang="en-US" sz="2000" dirty="0"/>
              <a:t>Scikit-Learn (Linear Regression): The Machine Learning model used to calculate and predict the salaries.</a:t>
            </a:r>
          </a:p>
          <a:p>
            <a:pPr marL="0" indent="0" eaLnBrk="0" fontAlgn="base" hangingPunct="0">
              <a:lnSpc>
                <a:spcPct val="100000"/>
              </a:lnSpc>
              <a:spcBef>
                <a:spcPct val="0"/>
              </a:spcBef>
              <a:spcAft>
                <a:spcPct val="0"/>
              </a:spcAft>
              <a:buNone/>
            </a:pPr>
            <a:r>
              <a:rPr lang="en-US" sz="2000" dirty="0" err="1"/>
              <a:t>Joblib</a:t>
            </a:r>
            <a:r>
              <a:rPr lang="en-US" sz="2000" dirty="0"/>
              <a:t>: Used to serialize and deserialize the trained AI model (</a:t>
            </a:r>
            <a:r>
              <a:rPr lang="en-US" sz="2000" dirty="0" err="1"/>
              <a:t>salary_model.pkl</a:t>
            </a:r>
            <a:r>
              <a:rPr lang="en-US" sz="2000" dirty="0"/>
              <a:t>).</a:t>
            </a:r>
          </a:p>
          <a:p>
            <a:pPr marL="0" indent="0" eaLnBrk="0" fontAlgn="base" hangingPunct="0">
              <a:lnSpc>
                <a:spcPct val="100000"/>
              </a:lnSpc>
              <a:spcBef>
                <a:spcPct val="0"/>
              </a:spcBef>
              <a:spcAft>
                <a:spcPct val="0"/>
              </a:spcAft>
              <a:buNone/>
            </a:pPr>
            <a:r>
              <a:rPr lang="en-US" sz="2000" dirty="0"/>
              <a:t>Pandas: Used for data manipulation, dataset aggregating, and API payload parsing.</a:t>
            </a:r>
          </a:p>
          <a:p>
            <a:pPr marL="0" indent="0" eaLnBrk="0" fontAlgn="base" hangingPunct="0">
              <a:lnSpc>
                <a:spcPct val="100000"/>
              </a:lnSpc>
              <a:spcBef>
                <a:spcPct val="0"/>
              </a:spcBef>
              <a:spcAft>
                <a:spcPct val="0"/>
              </a:spcAft>
              <a:buNone/>
            </a:pPr>
            <a:r>
              <a:rPr lang="en-US" sz="2000" dirty="0"/>
              <a:t>Frontend (User Interface):</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Vanilla HTML/CSS: Completely custom "</a:t>
            </a:r>
            <a:r>
              <a:rPr lang="en-US" sz="2000" dirty="0" err="1"/>
              <a:t>Glassmorphism</a:t>
            </a:r>
            <a:r>
              <a:rPr lang="en-US" sz="2000" dirty="0"/>
              <a:t>" UI with premium neon-glow aesthetics and micro-animations.</a:t>
            </a:r>
          </a:p>
          <a:p>
            <a:pPr marL="0" indent="0" eaLnBrk="0" fontAlgn="base" hangingPunct="0">
              <a:lnSpc>
                <a:spcPct val="100000"/>
              </a:lnSpc>
              <a:spcBef>
                <a:spcPct val="0"/>
              </a:spcBef>
              <a:spcAft>
                <a:spcPct val="0"/>
              </a:spcAft>
              <a:buNone/>
            </a:pPr>
            <a:r>
              <a:rPr lang="en-US" sz="2000" dirty="0"/>
              <a:t>Chart.js: A JavaScript charting library used in the "Analytics" tab to visualize the data dynamically fetched from our backend API.</a:t>
            </a:r>
          </a:p>
          <a:p>
            <a:pPr marL="0" indent="0" eaLnBrk="0" fontAlgn="base" hangingPunct="0">
              <a:lnSpc>
                <a:spcPct val="100000"/>
              </a:lnSpc>
              <a:spcBef>
                <a:spcPct val="0"/>
              </a:spcBef>
              <a:spcAft>
                <a:spcPct val="0"/>
              </a:spcAft>
              <a:buNone/>
            </a:pPr>
            <a:r>
              <a:rPr lang="en-US" sz="2000" dirty="0"/>
              <a:t>Vanilla JavaScript (Fetch API): Used to connect the frontend forms directly to our local Python backend without needing page reloads.</a:t>
            </a:r>
          </a:p>
          <a:p>
            <a:pPr marL="0" indent="0" eaLnBrk="0" fontAlgn="base" hangingPunct="0">
              <a:lnSpc>
                <a:spcPct val="100000"/>
              </a:lnSpc>
              <a:spcBef>
                <a:spcPct val="0"/>
              </a:spcBef>
              <a:spcAft>
                <a:spcPct val="0"/>
              </a:spcAft>
              <a:buNone/>
            </a:pPr>
            <a:r>
              <a:rPr lang="en-US" sz="2000" dirty="0"/>
              <a:t>📊 Dataset Selected</a:t>
            </a:r>
          </a:p>
          <a:p>
            <a:pPr marL="0" indent="0" eaLnBrk="0" fontAlgn="base" hangingPunct="0">
              <a:lnSpc>
                <a:spcPct val="100000"/>
              </a:lnSpc>
              <a:spcBef>
                <a:spcPct val="0"/>
              </a:spcBef>
              <a:spcAft>
                <a:spcPct val="0"/>
              </a:spcAft>
              <a:buNone/>
            </a:pPr>
            <a:r>
              <a:rPr lang="en-US" sz="2000" dirty="0"/>
              <a:t>The dataset being used is located at </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data/salary_data.csv</a:t>
            </a:r>
          </a:p>
          <a:p>
            <a:pPr marL="0" indent="0" eaLnBrk="0" fontAlgn="base" hangingPunct="0">
              <a:lnSpc>
                <a:spcPct val="100000"/>
              </a:lnSpc>
              <a:spcBef>
                <a:spcPct val="0"/>
              </a:spcBef>
              <a:spcAft>
                <a:spcPct val="0"/>
              </a:spcAft>
              <a:buNone/>
            </a:pPr>
            <a:r>
              <a:rPr lang="en-US" sz="2000" dirty="0"/>
              <a:t>.</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It is a structured HR dataset containing 127 records with the following feature columns used for the AI prediction:</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dirty="0"/>
              <a:t>Age (e.g., 22 - 45)</a:t>
            </a:r>
          </a:p>
          <a:p>
            <a:pPr marL="0" indent="0" eaLnBrk="0" fontAlgn="base" hangingPunct="0">
              <a:lnSpc>
                <a:spcPct val="100000"/>
              </a:lnSpc>
              <a:spcBef>
                <a:spcPct val="0"/>
              </a:spcBef>
              <a:spcAft>
                <a:spcPct val="0"/>
              </a:spcAft>
              <a:buNone/>
            </a:pPr>
            <a:r>
              <a:rPr lang="en-US" sz="2000" dirty="0"/>
              <a:t>Gender (Male / Female)</a:t>
            </a:r>
          </a:p>
          <a:p>
            <a:pPr marL="0" indent="0" eaLnBrk="0" fontAlgn="base" hangingPunct="0">
              <a:lnSpc>
                <a:spcPct val="100000"/>
              </a:lnSpc>
              <a:spcBef>
                <a:spcPct val="0"/>
              </a:spcBef>
              <a:spcAft>
                <a:spcPct val="0"/>
              </a:spcAft>
              <a:buNone/>
            </a:pPr>
            <a:r>
              <a:rPr lang="en-US" sz="2000" dirty="0"/>
              <a:t>Education (Bachelors / Masters / PhD)</a:t>
            </a:r>
          </a:p>
          <a:p>
            <a:pPr marL="0" indent="0" eaLnBrk="0" fontAlgn="base" hangingPunct="0">
              <a:lnSpc>
                <a:spcPct val="100000"/>
              </a:lnSpc>
              <a:spcBef>
                <a:spcPct val="0"/>
              </a:spcBef>
              <a:spcAft>
                <a:spcPct val="0"/>
              </a:spcAft>
              <a:buNone/>
            </a:pPr>
            <a:r>
              <a:rPr lang="en-US" sz="2000" dirty="0"/>
              <a:t>Job Title (e.g., Software Engineer, Data Scientist, AI Researcher, System Admin, etc.)</a:t>
            </a:r>
          </a:p>
          <a:p>
            <a:pPr marL="0" indent="0" eaLnBrk="0" fontAlgn="base" hangingPunct="0">
              <a:lnSpc>
                <a:spcPct val="100000"/>
              </a:lnSpc>
              <a:spcBef>
                <a:spcPct val="0"/>
              </a:spcBef>
              <a:spcAft>
                <a:spcPct val="0"/>
              </a:spcAft>
              <a:buNone/>
            </a:pPr>
            <a:r>
              <a:rPr lang="en-US" sz="2000" dirty="0"/>
              <a:t>Experience (Years of experience, ranging from 1 to 16)</a:t>
            </a:r>
          </a:p>
          <a:p>
            <a:pPr marL="0" indent="0" eaLnBrk="0" fontAlgn="base" hangingPunct="0">
              <a:lnSpc>
                <a:spcPct val="100000"/>
              </a:lnSpc>
              <a:spcBef>
                <a:spcPct val="0"/>
              </a:spcBef>
              <a:spcAft>
                <a:spcPct val="0"/>
              </a:spcAft>
              <a:buNone/>
            </a:pPr>
            <a:r>
              <a:rPr lang="en-US" sz="2000" dirty="0"/>
              <a:t>Salary (The target variable our model is trained to predict, ranging from ₹30,000 to ₹160,000)</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E9CAEAB-5228-303F-2BDF-404B29BC6AEA}"/>
              </a:ext>
            </a:extLst>
          </p:cNvPr>
          <p:cNvSpPr>
            <a:spLocks noGrp="1"/>
          </p:cNvSpPr>
          <p:nvPr>
            <p:ph sz="half" idx="2"/>
          </p:nvPr>
        </p:nvSpPr>
        <p:spPr>
          <a:xfrm>
            <a:off x="6172202" y="690465"/>
            <a:ext cx="5181600" cy="5342076"/>
          </a:xfrm>
        </p:spPr>
        <p:txBody>
          <a:bodyPr>
            <a:normAutofit fontScale="55000" lnSpcReduction="20000"/>
          </a:bodyPr>
          <a:lstStyle/>
          <a:p>
            <a:r>
              <a:rPr lang="en-IN" dirty="0"/>
              <a:t>Dataset used</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p:txBody>
          <a:bodyPr/>
          <a:lstStyle/>
          <a:p>
            <a:r>
              <a:rPr lang="en-US" dirty="0"/>
              <a:t>REVIEW – 2    </a:t>
            </a:r>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pic>
        <p:nvPicPr>
          <p:cNvPr id="4" name="Picture 3">
            <a:extLst>
              <a:ext uri="{FF2B5EF4-FFF2-40B4-BE49-F238E27FC236}">
                <a16:creationId xmlns:a16="http://schemas.microsoft.com/office/drawing/2014/main" id="{6E346B9C-9079-9E42-2A39-FCE6AB1A552A}"/>
              </a:ext>
            </a:extLst>
          </p:cNvPr>
          <p:cNvPicPr>
            <a:picLocks noChangeAspect="1"/>
          </p:cNvPicPr>
          <p:nvPr/>
        </p:nvPicPr>
        <p:blipFill>
          <a:blip r:embed="rId3"/>
          <a:stretch>
            <a:fillRect/>
          </a:stretch>
        </p:blipFill>
        <p:spPr>
          <a:xfrm>
            <a:off x="5416826" y="1325438"/>
            <a:ext cx="6211957" cy="5030911"/>
          </a:xfrm>
          <a:prstGeom prst="rect">
            <a:avLst/>
          </a:prstGeom>
        </p:spPr>
      </p:pic>
    </p:spTree>
    <p:extLst>
      <p:ext uri="{BB962C8B-B14F-4D97-AF65-F5344CB8AC3E}">
        <p14:creationId xmlns:p14="http://schemas.microsoft.com/office/powerpoint/2010/main" val="3350041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Employee Salary Prediction System</a:t>
            </a:r>
            <a:r>
              <a:rPr lang="en-US" sz="1800" dirty="0">
                <a:latin typeface="Times New Roman" panose="02020603050405020304" pitchFamily="18" charset="0"/>
                <a:cs typeface="Times New Roman" panose="02020603050405020304" pitchFamily="18" charset="0"/>
              </a:rPr>
              <a:t> aims to use Artificial Intelligence and Machine Learning techniques to estimate employee salaries based on important factors such as experience, education, skills, job role, and location. The proposed system focuses on analyzing historical employee data and identifying patterns that influence salary levels. By applying machine learning models like Linear Regression, Decision Tree, and Random Forest, the system can provide accurate and data-driven salary predictions. This approach helps organizations make fair compensation decisions and assists job seekers in understanding expected salary ranges.</a:t>
            </a:r>
          </a:p>
          <a:p>
            <a:pPr marL="0" indent="0">
              <a:buNone/>
            </a:pPr>
            <a:r>
              <a:rPr lang="en-US" sz="1800" b="1" dirty="0">
                <a:latin typeface="Times New Roman" panose="02020603050405020304" pitchFamily="18" charset="0"/>
                <a:cs typeface="Times New Roman" panose="02020603050405020304" pitchFamily="18" charset="0"/>
              </a:rPr>
              <a:t>Next Steps for Evaluation Phase</a:t>
            </a:r>
          </a:p>
          <a:p>
            <a:r>
              <a:rPr lang="en-US" sz="1800" dirty="0">
                <a:latin typeface="Times New Roman" panose="02020603050405020304" pitchFamily="18" charset="0"/>
                <a:cs typeface="Times New Roman" panose="02020603050405020304" pitchFamily="18" charset="0"/>
              </a:rPr>
              <a:t>Collect a reliable and sufficient employee salary dataset.</a:t>
            </a:r>
          </a:p>
          <a:p>
            <a:r>
              <a:rPr lang="en-US" sz="1800" dirty="0">
                <a:latin typeface="Times New Roman" panose="02020603050405020304" pitchFamily="18" charset="0"/>
                <a:cs typeface="Times New Roman" panose="02020603050405020304" pitchFamily="18" charset="0"/>
              </a:rPr>
              <a:t>Train the selected machine learning models using the prepared dataset.</a:t>
            </a:r>
          </a:p>
          <a:p>
            <a:r>
              <a:rPr lang="en-US" sz="1800" dirty="0">
                <a:latin typeface="Times New Roman" panose="02020603050405020304" pitchFamily="18" charset="0"/>
                <a:cs typeface="Times New Roman" panose="02020603050405020304" pitchFamily="18" charset="0"/>
              </a:rPr>
              <a:t>Evaluate model performance using metrics such as Compare different algorithms to identify the best-performing model.</a:t>
            </a:r>
            <a:r>
              <a:rPr lang="en-US" sz="1800" b="1"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Improve the model by tuning parameters and using additional features if needed.</a:t>
            </a:r>
          </a:p>
          <a:p>
            <a:r>
              <a:rPr lang="en-US" sz="1800" dirty="0">
                <a:latin typeface="Times New Roman" panose="02020603050405020304" pitchFamily="18" charset="0"/>
                <a:cs typeface="Times New Roman" panose="02020603050405020304" pitchFamily="18" charset="0"/>
              </a:rPr>
              <a:t>Test the final model with new input data to validate prediction accuracy.</a:t>
            </a:r>
          </a:p>
          <a:p>
            <a:pPr marL="0" indent="0" eaLnBrk="0" fontAlgn="base" hangingPunct="0">
              <a:lnSpc>
                <a:spcPct val="100000"/>
              </a:lnSpc>
              <a:spcBef>
                <a:spcPct val="0"/>
              </a:spcBef>
              <a:spcAft>
                <a:spcPct val="0"/>
              </a:spcAft>
              <a:buNone/>
            </a:pPr>
            <a:endParaRPr lang="en-US" sz="2000" dirty="0"/>
          </a:p>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71646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sz="2000" b="1" dirty="0"/>
              <a:t>1.</a:t>
            </a:r>
            <a:r>
              <a:rPr lang="en-US" sz="2000" dirty="0"/>
              <a:t>Kumar, S., &amp; Sharma, R. (2021). </a:t>
            </a:r>
            <a:r>
              <a:rPr lang="en-US" sz="2000" i="1" dirty="0"/>
              <a:t>Employee Salary Prediction using Machine Learning Techniques</a:t>
            </a:r>
            <a:r>
              <a:rPr lang="en-US" sz="2000" dirty="0"/>
              <a:t>. IEEE Conference on Artificial Intelligence and Data Science.</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2.</a:t>
            </a:r>
            <a:r>
              <a:rPr lang="en-US" sz="2000" dirty="0"/>
              <a:t>Patel, A., &amp; Singh, M. (2022). </a:t>
            </a:r>
            <a:r>
              <a:rPr lang="en-US" sz="2000" i="1" dirty="0"/>
              <a:t>AI-Based Salary Prediction System using Machine Learning Algorithms</a:t>
            </a:r>
            <a:r>
              <a:rPr lang="en-US" sz="2000" dirty="0"/>
              <a:t>. International Journal of Computer Applications.</a:t>
            </a:r>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3</a:t>
            </a:r>
            <a:r>
              <a:rPr lang="en-US" sz="2000" dirty="0"/>
              <a:t>.Kaggle Dataset – </a:t>
            </a:r>
            <a:r>
              <a:rPr lang="en-US" sz="2000" i="1" dirty="0"/>
              <a:t>Employee Salary Prediction Dataset</a:t>
            </a:r>
            <a:r>
              <a:rPr lang="en-US" sz="2000" dirty="0"/>
              <a:t>.</a:t>
            </a:r>
            <a:br>
              <a:rPr lang="en-US" sz="2000" dirty="0"/>
            </a:br>
            <a:r>
              <a:rPr lang="en-US" sz="2000" dirty="0">
                <a:hlinkClick r:id="rId2"/>
              </a:rPr>
              <a:t>https://www.kaggle.com/</a:t>
            </a:r>
            <a:endParaRPr lang="en-US" sz="2000" dirty="0"/>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4.</a:t>
            </a:r>
            <a:r>
              <a:rPr lang="en-US" sz="2000" dirty="0"/>
              <a:t>Scikit-learn Official Documentation.</a:t>
            </a:r>
            <a:br>
              <a:rPr lang="en-US" sz="2000" dirty="0"/>
            </a:br>
            <a:r>
              <a:rPr lang="en-US" sz="2000" dirty="0">
                <a:hlinkClick r:id="rId3"/>
              </a:rPr>
              <a:t>https://scikit-learn.org/</a:t>
            </a:r>
            <a:endParaRPr lang="en-US" sz="2000" dirty="0"/>
          </a:p>
          <a:p>
            <a:pPr marL="0" indent="0" eaLnBrk="0" fontAlgn="base" hangingPunct="0">
              <a:lnSpc>
                <a:spcPct val="100000"/>
              </a:lnSpc>
              <a:spcBef>
                <a:spcPct val="0"/>
              </a:spcBef>
              <a:spcAft>
                <a:spcPct val="0"/>
              </a:spcAft>
              <a:buNone/>
            </a:pPr>
            <a:endParaRPr lang="en-US" sz="2000" dirty="0"/>
          </a:p>
          <a:p>
            <a:pPr marL="0" indent="0" eaLnBrk="0" fontAlgn="base" hangingPunct="0">
              <a:lnSpc>
                <a:spcPct val="100000"/>
              </a:lnSpc>
              <a:spcBef>
                <a:spcPct val="0"/>
              </a:spcBef>
              <a:spcAft>
                <a:spcPct val="0"/>
              </a:spcAft>
              <a:buNone/>
            </a:pPr>
            <a:r>
              <a:rPr lang="en-US" sz="2000" b="1" dirty="0"/>
              <a:t>5</a:t>
            </a:r>
            <a:r>
              <a:rPr lang="en-US" sz="2000" dirty="0"/>
              <a:t>.Python Official Documentation.</a:t>
            </a:r>
            <a:br>
              <a:rPr lang="en-US" sz="2000" dirty="0"/>
            </a:br>
            <a:r>
              <a:rPr lang="en-US" sz="2000" dirty="0">
                <a:hlinkClick r:id="rId4"/>
              </a:rPr>
              <a:t>https://docs.python.org/</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5"/>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116982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1250</Words>
  <Application>Microsoft Office PowerPoint</Application>
  <PresentationFormat>Widescreen</PresentationFormat>
  <Paragraphs>234</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Times New Roman</vt:lpstr>
      <vt:lpstr>Office Theme</vt:lpstr>
      <vt:lpstr>Custom Design</vt:lpstr>
      <vt:lpstr> REVIEW – 2  Employee salary prediction system</vt:lpstr>
      <vt:lpstr>OUTLINE</vt:lpstr>
      <vt:lpstr>Introduction</vt:lpstr>
      <vt:lpstr>Objectives </vt:lpstr>
      <vt:lpstr>Literature Survey</vt:lpstr>
      <vt:lpstr>Proposed Method</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SRUNGARAPU SAI REETHIKA</dc:creator>
  <cp:lastModifiedBy>SRUNGARAPU SAI REETHIKA</cp:lastModifiedBy>
  <cp:revision>3</cp:revision>
  <dcterms:modified xsi:type="dcterms:W3CDTF">2026-04-01T04:18:48Z</dcterms:modified>
</cp:coreProperties>
</file>